
<file path=[Content_Types].xml><?xml version="1.0" encoding="utf-8"?>
<Types xmlns="http://schemas.openxmlformats.org/package/2006/content-types">
  <Default Extension="jpeg" ContentType="image/jpeg"/>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32"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0154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an agent for the CarthAgents challenge. It reads the fixed-asset schedules a client hands to its auditor and fills the auditor’s working file, the Arbeitsversion. The card on the right is the whole idea in one value: the figure exactly as printed, the field it fills, the asset it belongs to, the number in cents, and where on the page it came from.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audit looks at a company’s fixed assets. The client sends its asset list as a PDF, a scan or an Excel file, and every client’s format is different. Today someone on the audit team types every number into the auditor’s spreadsheet by hand. Two digits swapped, like here, and nobody notices, because nothing links the number back to the page it came from.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architecture. A PDF or Excel file becomes source evidence: text with positions, cells, or OCR words. The LLM only plans: it maps the layout to meaning. The code executor then retrieves and parses every amount from the original evidence, shown by the dashed line, never from the model. The same evidence stays attached all the way into the JSON, the Arbeitsversion workbook and the review app.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decides what a number means, we capture it as evidence. Take one Excel cell, Assets B2, holding 123.45. It becomes a source token with a stable id, t3, that later steps refer to; its text and stored value exactly as in the file; and an exact pointer, sheet and cell. A stable handle, the untouched source value, and its exact location. PDFs and OCR work the same way, with a page and a box instead of a cell.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model’s job is the mapping. It reads the page with amounts masked and returns a section rule: for the 2025 asset rows, column B is ahk_open, the opening cost. It never supplies the figure. Deterministic code applies that rule across the whole table: it reads 123.45 euros from the evidence at Assets B2 and parses it into 12,345 cents. The result is an observed value for asset 001 that still carries its source. A client’s printed discrepancy is preserved, not corrected, and where evidence is missing the value stays blank with a reason.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test uses layouts nobody has seen, so we built our own fake client documents: 144 of them, each in a new randomised layout, with answer keys, and half held out so we never tuned on them. On the organisers’ 72 samples our local scorer counts about 25,900 values right, against about 1,300 wrong; that is our local number, not the official leaderboard. And for the workbook step we injected 713 known mistakes, wrong units, flipped signs, shifted columns and rows, and every one was caught.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whole thing running on one document. We upload a client PDF, the agent processes it, and the review app opens with every extracted value. Clicking a value highlights the exact characters on the page it came from, and flagged values explain why. At the end we download the filled Arbeitsversion.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This is our team, mid-hackathon. Happy to take questions about the pipeline, the evaluation or the test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5312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202737"/>
                </a:solidFill>
                <a:latin typeface="Manrope" pitchFamily="34" charset="0"/>
                <a:ea typeface="Manrope" pitchFamily="34" charset="-122"/>
                <a:cs typeface="Manrope"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83680"/>
            <a:ext cx="10566400" cy="4061520"/>
          </a:xfrm>
          <a:prstGeom prst="rect">
            <a:avLst/>
          </a:prstGeom>
          <a:noFill/>
          <a:ln/>
        </p:spPr>
        <p:txBody>
          <a:bodyPr wrap="square" lIns="0" tIns="0" rIns="0" bIns="0" rtlCol="0" anchor="t"/>
          <a:lstStyle>
            <a:lvl1pPr marL="0" indent="0" algn="l">
              <a:lnSpc>
                <a:spcPct val="140000"/>
              </a:lnSpc>
              <a:buNone/>
              <a:defRPr lang="en-US" sz="1600" dirty="0">
                <a:solidFill>
                  <a:srgbClr val="202737"/>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5312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202737"/>
                </a:solidFill>
                <a:latin typeface="Manrope" pitchFamily="34" charset="0"/>
                <a:ea typeface="Manrope" pitchFamily="34" charset="-122"/>
                <a:cs typeface="Manrope"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83680"/>
            <a:ext cx="10566400" cy="4061520"/>
          </a:xfrm>
          <a:prstGeom prst="rect">
            <a:avLst/>
          </a:prstGeom>
          <a:noFill/>
          <a:ln/>
        </p:spPr>
        <p:txBody>
          <a:bodyPr wrap="square" lIns="0" tIns="0" rIns="0" bIns="0" rtlCol="0" anchor="t"/>
          <a:lstStyle>
            <a:lvl1pPr marL="0" indent="0" algn="l">
              <a:lnSpc>
                <a:spcPct val="140000"/>
              </a:lnSpc>
              <a:buNone/>
              <a:defRPr lang="en-US" sz="1600" dirty="0">
                <a:solidFill>
                  <a:srgbClr val="202737"/>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1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1196727"/>
            <a:ext cx="6069584"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3C4FBA"/>
                </a:solidFill>
                <a:latin typeface="DM Sans" pitchFamily="34" charset="0"/>
                <a:ea typeface="DM Sans" pitchFamily="34" charset="-122"/>
                <a:cs typeface="DM Sans" pitchFamily="34" charset="-120"/>
              </a:rPr>
              <a:t>TUM.AI × CARTHAGENTS · 18 OCTOBER 2026</a:t>
            </a:r>
            <a:endParaRPr lang="en-US" sz="1200" dirty="0"/>
          </a:p>
        </p:txBody>
      </p:sp>
      <p:sp>
        <p:nvSpPr>
          <p:cNvPr id="3" name="Text 1"/>
          <p:cNvSpPr>
            <a:spLocks noGrp="1"/>
          </p:cNvSpPr>
          <p:nvPr>
            <p:ph type="title"/>
          </p:nvPr>
        </p:nvSpPr>
        <p:spPr>
          <a:xfrm>
            <a:off x="812800" y="1664047"/>
            <a:ext cx="6069584" cy="2265561"/>
          </a:xfrm>
          <a:prstGeom prst="rect">
            <a:avLst/>
          </a:prstGeom>
          <a:noFill/>
          <a:ln/>
        </p:spPr>
        <p:txBody>
          <a:bodyPr wrap="square" lIns="0" tIns="0" rIns="0" bIns="0" rtlCol="0" anchor="t">
            <a:normAutofit/>
          </a:bodyPr>
          <a:lstStyle/>
          <a:p>
            <a:pPr marL="0" indent="0" algn="l">
              <a:lnSpc>
                <a:spcPts val="5880"/>
              </a:lnSpc>
              <a:buNone/>
            </a:pPr>
            <a:r>
              <a:rPr lang="en-US" sz="5600" b="1" i="0" kern="0" spc="-200" dirty="0">
                <a:solidFill>
                  <a:srgbClr val="202737"/>
                </a:solidFill>
                <a:latin typeface="Manrope" pitchFamily="34" charset="0"/>
                <a:ea typeface="Manrope" pitchFamily="34" charset="-122"/>
                <a:cs typeface="Manrope" pitchFamily="34" charset="-120"/>
              </a:rPr>
              <a:t>Zero-Hallucination Audit Agent</a:t>
            </a:r>
            <a:endParaRPr lang="en-US" sz="5600" dirty="0"/>
          </a:p>
        </p:txBody>
      </p:sp>
      <p:sp>
        <p:nvSpPr>
          <p:cNvPr id="4" name="Text 2"/>
          <p:cNvSpPr/>
          <p:nvPr/>
        </p:nvSpPr>
        <p:spPr>
          <a:xfrm>
            <a:off x="812800" y="4158208"/>
            <a:ext cx="6069584" cy="90929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4A5368"/>
                </a:solidFill>
                <a:latin typeface="DM Sans" pitchFamily="34" charset="0"/>
                <a:ea typeface="DM Sans" pitchFamily="34" charset="-122"/>
                <a:cs typeface="DM Sans" pitchFamily="34" charset="-120"/>
              </a:rPr>
              <a:t>Reads a client’s fixed-asset schedules, fills the auditor’s Arbeitsversion, traces every figure to its source and checks its own work.</a:t>
            </a:r>
            <a:endParaRPr lang="en-US" sz="1600" dirty="0"/>
          </a:p>
        </p:txBody>
      </p:sp>
      <p:sp>
        <p:nvSpPr>
          <p:cNvPr id="5" name="Text 3"/>
          <p:cNvSpPr/>
          <p:nvPr/>
        </p:nvSpPr>
        <p:spPr>
          <a:xfrm>
            <a:off x="812800" y="5296098"/>
            <a:ext cx="1113433" cy="381000"/>
          </a:xfrm>
          <a:prstGeom prst="rect">
            <a:avLst/>
          </a:prstGeom>
          <a:noFill/>
          <a:ln/>
        </p:spPr>
        <p:txBody>
          <a:bodyPr wrap="square" lIns="0" tIns="0" rIns="0" bIns="0" rtlCol="0" anchor="t">
            <a:normAutofit/>
          </a:bodyPr>
          <a:lstStyle/>
          <a:p>
            <a:pPr marL="0" indent="0" algn="l">
              <a:lnSpc>
                <a:spcPts val="2800"/>
              </a:lnSpc>
              <a:buNone/>
            </a:pPr>
            <a:r>
              <a:rPr lang="en-US" sz="2000" b="1" kern="0" spc="-75" dirty="0">
                <a:solidFill>
                  <a:srgbClr val="202737"/>
                </a:solidFill>
                <a:latin typeface="Manrope" pitchFamily="34" charset="0"/>
                <a:ea typeface="Manrope" pitchFamily="34" charset="-122"/>
                <a:cs typeface="Manrope" pitchFamily="34" charset="-120"/>
              </a:rPr>
              <a:t>3.5 Carth</a:t>
            </a:r>
            <a:endParaRPr lang="en-US" sz="2000" dirty="0"/>
          </a:p>
        </p:txBody>
      </p:sp>
      <p:sp>
        <p:nvSpPr>
          <p:cNvPr id="6" name="Text 4"/>
          <p:cNvSpPr/>
          <p:nvPr/>
        </p:nvSpPr>
        <p:spPr>
          <a:xfrm>
            <a:off x="1875433" y="5305623"/>
            <a:ext cx="866596" cy="381000"/>
          </a:xfrm>
          <a:prstGeom prst="rect">
            <a:avLst/>
          </a:prstGeom>
          <a:noFill/>
          <a:ln/>
        </p:spPr>
        <p:txBody>
          <a:bodyPr wrap="square" lIns="0" tIns="0" rIns="0" bIns="0" rtlCol="0" anchor="t">
            <a:normAutofit/>
          </a:bodyPr>
          <a:lstStyle/>
          <a:p>
            <a:pPr marL="0" indent="0" algn="l">
              <a:lnSpc>
                <a:spcPts val="2800"/>
              </a:lnSpc>
              <a:buNone/>
            </a:pPr>
            <a:r>
              <a:rPr lang="en-US" sz="2000" i="1" kern="0" spc="-50" dirty="0">
                <a:solidFill>
                  <a:srgbClr val="202737"/>
                </a:solidFill>
                <a:latin typeface="Georgia" pitchFamily="18" charset="0"/>
                <a:ea typeface="Georgia" pitchFamily="18" charset="-122"/>
                <a:cs typeface="Georgia" pitchFamily="18" charset="-120"/>
              </a:rPr>
              <a:t>Asians</a:t>
            </a:r>
            <a:endParaRPr lang="en-US" sz="2000" dirty="0"/>
          </a:p>
        </p:txBody>
      </p:sp>
      <p:sp>
        <p:nvSpPr>
          <p:cNvPr id="7" name="Shape 5"/>
          <p:cNvSpPr/>
          <p:nvPr/>
        </p:nvSpPr>
        <p:spPr>
          <a:xfrm>
            <a:off x="7318375" y="1540619"/>
            <a:ext cx="4057650" cy="3776762"/>
          </a:xfrm>
          <a:prstGeom prst="roundRect">
            <a:avLst>
              <a:gd name="adj" fmla="val 3279"/>
            </a:avLst>
          </a:prstGeom>
          <a:solidFill>
            <a:srgbClr val="FFFFFF"/>
          </a:solidFill>
          <a:ln w="6350">
            <a:solidFill>
              <a:srgbClr val="E7E9EF"/>
            </a:solidFill>
            <a:prstDash val="solid"/>
          </a:ln>
          <a:effectLst>
            <a:outerShdw blurRad="304800" dist="76200" dir="5400000" algn="bl" rotWithShape="0">
              <a:srgbClr val="202737">
                <a:alpha val="8000"/>
              </a:srgbClr>
            </a:outerShdw>
          </a:effectLst>
        </p:spPr>
        <p:txBody>
          <a:bodyPr/>
          <a:lstStyle/>
          <a:p>
            <a:endParaRPr lang="en-US"/>
          </a:p>
        </p:txBody>
      </p:sp>
      <p:sp>
        <p:nvSpPr>
          <p:cNvPr id="8" name="Text 6"/>
          <p:cNvSpPr/>
          <p:nvPr/>
        </p:nvSpPr>
        <p:spPr>
          <a:xfrm>
            <a:off x="7626350" y="1848594"/>
            <a:ext cx="3544951"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2889A"/>
                </a:solidFill>
                <a:latin typeface="DM Sans" pitchFamily="34" charset="0"/>
                <a:ea typeface="DM Sans" pitchFamily="34" charset="-122"/>
                <a:cs typeface="DM Sans" pitchFamily="34" charset="-120"/>
              </a:rPr>
              <a:t>AS PRINTED · PAGE 1</a:t>
            </a:r>
            <a:endParaRPr lang="en-US" sz="1200" dirty="0"/>
          </a:p>
        </p:txBody>
      </p:sp>
      <p:sp>
        <p:nvSpPr>
          <p:cNvPr id="9" name="Text 7"/>
          <p:cNvSpPr/>
          <p:nvPr/>
        </p:nvSpPr>
        <p:spPr>
          <a:xfrm>
            <a:off x="7626350" y="2239714"/>
            <a:ext cx="3544951" cy="807690"/>
          </a:xfrm>
          <a:prstGeom prst="rect">
            <a:avLst/>
          </a:prstGeom>
          <a:noFill/>
          <a:ln/>
        </p:spPr>
        <p:txBody>
          <a:bodyPr wrap="square" lIns="0" tIns="0" rIns="0" bIns="0" rtlCol="0" anchor="t">
            <a:normAutofit/>
          </a:bodyPr>
          <a:lstStyle/>
          <a:p>
            <a:pPr marL="0" indent="0" algn="l">
              <a:lnSpc>
                <a:spcPts val="6160"/>
              </a:lnSpc>
              <a:buNone/>
            </a:pPr>
            <a:r>
              <a:rPr lang="en-US" sz="4400" b="1" kern="0" spc="-100" dirty="0">
                <a:solidFill>
                  <a:srgbClr val="202737"/>
                </a:solidFill>
                <a:latin typeface="Manrope" pitchFamily="34" charset="0"/>
                <a:ea typeface="Manrope" pitchFamily="34" charset="-122"/>
                <a:cs typeface="Manrope" pitchFamily="34" charset="-120"/>
              </a:rPr>
              <a:t>19.425,96</a:t>
            </a:r>
            <a:endParaRPr lang="en-US" sz="4400" dirty="0"/>
          </a:p>
        </p:txBody>
      </p:sp>
      <p:pic>
        <p:nvPicPr>
          <p:cNvPr id="10" name="Image 0" descr="line"/>
          <p:cNvPicPr>
            <a:picLocks noChangeAspect="1"/>
          </p:cNvPicPr>
          <p:nvPr/>
        </p:nvPicPr>
        <p:blipFill>
          <a:blip r:embed="rId3"/>
          <a:srcRect/>
          <a:stretch/>
        </p:blipFill>
        <p:spPr>
          <a:xfrm>
            <a:off x="7626350" y="3199805"/>
            <a:ext cx="3441700" cy="6350"/>
          </a:xfrm>
          <a:prstGeom prst="rect">
            <a:avLst/>
          </a:prstGeom>
        </p:spPr>
      </p:pic>
      <p:sp>
        <p:nvSpPr>
          <p:cNvPr id="11" name="Text 8"/>
          <p:cNvSpPr/>
          <p:nvPr/>
        </p:nvSpPr>
        <p:spPr>
          <a:xfrm>
            <a:off x="7626350" y="3383955"/>
            <a:ext cx="13208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2889A"/>
                </a:solidFill>
                <a:latin typeface="DM Sans" pitchFamily="34" charset="0"/>
                <a:ea typeface="DM Sans" pitchFamily="34" charset="-122"/>
                <a:cs typeface="DM Sans" pitchFamily="34" charset="-120"/>
              </a:rPr>
              <a:t>Field</a:t>
            </a:r>
            <a:endParaRPr lang="en-US" sz="1400" dirty="0"/>
          </a:p>
        </p:txBody>
      </p:sp>
      <p:sp>
        <p:nvSpPr>
          <p:cNvPr id="12" name="Text 9"/>
          <p:cNvSpPr/>
          <p:nvPr/>
        </p:nvSpPr>
        <p:spPr>
          <a:xfrm>
            <a:off x="9023350" y="3383955"/>
            <a:ext cx="2106041"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52B3A"/>
                </a:solidFill>
                <a:latin typeface="DM Sans" pitchFamily="34" charset="0"/>
                <a:ea typeface="DM Sans" pitchFamily="34" charset="-122"/>
                <a:cs typeface="DM Sans" pitchFamily="34" charset="-120"/>
              </a:rPr>
              <a:t>zugang (additions)</a:t>
            </a:r>
            <a:endParaRPr lang="en-US" sz="1400" dirty="0"/>
          </a:p>
        </p:txBody>
      </p:sp>
      <p:sp>
        <p:nvSpPr>
          <p:cNvPr id="13" name="Text 10"/>
          <p:cNvSpPr/>
          <p:nvPr/>
        </p:nvSpPr>
        <p:spPr>
          <a:xfrm>
            <a:off x="7626350" y="3759845"/>
            <a:ext cx="13208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2889A"/>
                </a:solidFill>
                <a:latin typeface="DM Sans" pitchFamily="34" charset="0"/>
                <a:ea typeface="DM Sans" pitchFamily="34" charset="-122"/>
                <a:cs typeface="DM Sans" pitchFamily="34" charset="-120"/>
              </a:rPr>
              <a:t>Asset</a:t>
            </a:r>
            <a:endParaRPr lang="en-US" sz="1400" dirty="0"/>
          </a:p>
        </p:txBody>
      </p:sp>
      <p:sp>
        <p:nvSpPr>
          <p:cNvPr id="14" name="Text 11"/>
          <p:cNvSpPr/>
          <p:nvPr/>
        </p:nvSpPr>
        <p:spPr>
          <a:xfrm>
            <a:off x="9023350" y="3759845"/>
            <a:ext cx="2106041"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52B3A"/>
                </a:solidFill>
                <a:latin typeface="DM Sans" pitchFamily="34" charset="0"/>
                <a:ea typeface="DM Sans" pitchFamily="34" charset="-122"/>
                <a:cs typeface="DM Sans" pitchFamily="34" charset="-120"/>
              </a:rPr>
              <a:t>210004</a:t>
            </a:r>
            <a:endParaRPr lang="en-US" sz="1400" dirty="0"/>
          </a:p>
        </p:txBody>
      </p:sp>
      <p:sp>
        <p:nvSpPr>
          <p:cNvPr id="15" name="Text 12"/>
          <p:cNvSpPr/>
          <p:nvPr/>
        </p:nvSpPr>
        <p:spPr>
          <a:xfrm>
            <a:off x="7626350" y="4135735"/>
            <a:ext cx="13208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2889A"/>
                </a:solidFill>
                <a:latin typeface="DM Sans" pitchFamily="34" charset="0"/>
                <a:ea typeface="DM Sans" pitchFamily="34" charset="-122"/>
                <a:cs typeface="DM Sans" pitchFamily="34" charset="-120"/>
              </a:rPr>
              <a:t>Value</a:t>
            </a:r>
            <a:endParaRPr lang="en-US" sz="1400" dirty="0"/>
          </a:p>
        </p:txBody>
      </p:sp>
      <p:sp>
        <p:nvSpPr>
          <p:cNvPr id="16" name="Text 13"/>
          <p:cNvSpPr/>
          <p:nvPr/>
        </p:nvSpPr>
        <p:spPr>
          <a:xfrm>
            <a:off x="9023350" y="4135735"/>
            <a:ext cx="2106041"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52B3A"/>
                </a:solidFill>
                <a:latin typeface="DM Sans" pitchFamily="34" charset="0"/>
                <a:ea typeface="DM Sans" pitchFamily="34" charset="-122"/>
                <a:cs typeface="DM Sans" pitchFamily="34" charset="-120"/>
              </a:rPr>
              <a:t>1,942,596 cents</a:t>
            </a:r>
            <a:endParaRPr lang="en-US" sz="1400" dirty="0"/>
          </a:p>
        </p:txBody>
      </p:sp>
      <p:sp>
        <p:nvSpPr>
          <p:cNvPr id="17" name="Text 14"/>
          <p:cNvSpPr/>
          <p:nvPr/>
        </p:nvSpPr>
        <p:spPr>
          <a:xfrm>
            <a:off x="7626350" y="4511625"/>
            <a:ext cx="132080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2889A"/>
                </a:solidFill>
                <a:latin typeface="DM Sans" pitchFamily="34" charset="0"/>
                <a:ea typeface="DM Sans" pitchFamily="34" charset="-122"/>
                <a:cs typeface="DM Sans" pitchFamily="34" charset="-120"/>
              </a:rPr>
              <a:t>Source</a:t>
            </a:r>
            <a:endParaRPr lang="en-US" sz="1400" dirty="0"/>
          </a:p>
        </p:txBody>
      </p:sp>
      <p:sp>
        <p:nvSpPr>
          <p:cNvPr id="18" name="Text 15"/>
          <p:cNvSpPr/>
          <p:nvPr/>
        </p:nvSpPr>
        <p:spPr>
          <a:xfrm>
            <a:off x="9023350" y="4511625"/>
            <a:ext cx="2106041"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C4FBA"/>
                </a:solidFill>
                <a:latin typeface="DM Sans" pitchFamily="34" charset="0"/>
                <a:ea typeface="DM Sans" pitchFamily="34" charset="-122"/>
                <a:cs typeface="DM Sans" pitchFamily="34" charset="-120"/>
              </a:rPr>
              <a:t>page 1, box around the digits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3C4FBA"/>
                </a:solidFill>
                <a:latin typeface="DM Sans" pitchFamily="34" charset="0"/>
                <a:ea typeface="DM Sans" pitchFamily="34" charset="-122"/>
                <a:cs typeface="DM Sans" pitchFamily="34" charset="-120"/>
              </a:rPr>
              <a:t>THE PROBLEM</a:t>
            </a:r>
            <a:endParaRPr lang="en-US" sz="1200" dirty="0"/>
          </a:p>
        </p:txBody>
      </p:sp>
      <p:sp>
        <p:nvSpPr>
          <p:cNvPr id="3" name="Text 1"/>
          <p:cNvSpPr>
            <a:spLocks noGrp="1"/>
          </p:cNvSpPr>
          <p:nvPr>
            <p:ph type="title"/>
          </p:nvPr>
        </p:nvSpPr>
        <p:spPr>
          <a:xfrm>
            <a:off x="812800" y="115312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kern="0" spc="-100" dirty="0">
                <a:solidFill>
                  <a:srgbClr val="202737"/>
                </a:solidFill>
                <a:latin typeface="Manrope" pitchFamily="34" charset="0"/>
                <a:ea typeface="Manrope" pitchFamily="34" charset="-122"/>
                <a:cs typeface="Manrope" pitchFamily="34" charset="-120"/>
              </a:rPr>
              <a:t>Auditors copy every number by hand</a:t>
            </a:r>
            <a:endParaRPr lang="en-US" sz="3600" dirty="0"/>
          </a:p>
        </p:txBody>
      </p:sp>
      <p:sp>
        <p:nvSpPr>
          <p:cNvPr id="4" name="Text 2"/>
          <p:cNvSpPr/>
          <p:nvPr/>
        </p:nvSpPr>
        <p:spPr>
          <a:xfrm>
            <a:off x="812800" y="2034480"/>
            <a:ext cx="10883392" cy="711200"/>
          </a:xfrm>
          <a:prstGeom prst="rect">
            <a:avLst/>
          </a:prstGeom>
          <a:noFill/>
          <a:ln/>
        </p:spPr>
        <p:txBody>
          <a:bodyPr wrap="square" lIns="0" tIns="0" rIns="0" bIns="0" rtlCol="0" anchor="t">
            <a:normAutofit/>
          </a:bodyPr>
          <a:lstStyle/>
          <a:p>
            <a:pPr marL="0" indent="0" algn="l">
              <a:lnSpc>
                <a:spcPts val="2700"/>
              </a:lnSpc>
              <a:buNone/>
            </a:pPr>
            <a:r>
              <a:rPr lang="en-US" sz="1800" dirty="0">
                <a:solidFill>
                  <a:srgbClr val="4A5368"/>
                </a:solidFill>
                <a:latin typeface="DM Sans" pitchFamily="34" charset="0"/>
                <a:ea typeface="DM Sans" pitchFamily="34" charset="-122"/>
                <a:cs typeface="DM Sans" pitchFamily="34" charset="-120"/>
              </a:rPr>
              <a:t>Clients send their asset lists as PDFs, scans or Excel files, each in its own format. Someone on the audit team types every number into the auditor’s spreadsheet.</a:t>
            </a:r>
            <a:endParaRPr lang="en-US" sz="1800" dirty="0"/>
          </a:p>
        </p:txBody>
      </p:sp>
      <p:sp>
        <p:nvSpPr>
          <p:cNvPr id="5" name="Text 3"/>
          <p:cNvSpPr/>
          <p:nvPr/>
        </p:nvSpPr>
        <p:spPr>
          <a:xfrm>
            <a:off x="812800" y="3075880"/>
            <a:ext cx="2375019"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2889A"/>
                </a:solidFill>
                <a:latin typeface="DM Sans" pitchFamily="34" charset="0"/>
                <a:ea typeface="DM Sans" pitchFamily="34" charset="-122"/>
                <a:cs typeface="DM Sans" pitchFamily="34" charset="-120"/>
              </a:rPr>
              <a:t>In the client’s PDF</a:t>
            </a:r>
            <a:endParaRPr lang="en-US" sz="1300" dirty="0"/>
          </a:p>
        </p:txBody>
      </p:sp>
      <p:sp>
        <p:nvSpPr>
          <p:cNvPr id="6" name="Text 4"/>
          <p:cNvSpPr/>
          <p:nvPr/>
        </p:nvSpPr>
        <p:spPr>
          <a:xfrm>
            <a:off x="812800" y="3357811"/>
            <a:ext cx="2767013" cy="736600"/>
          </a:xfrm>
          <a:prstGeom prst="rect">
            <a:avLst/>
          </a:prstGeom>
          <a:noFill/>
          <a:ln/>
        </p:spPr>
        <p:txBody>
          <a:bodyPr wrap="square" lIns="0" tIns="0" rIns="0" bIns="0" rtlCol="0" anchor="t">
            <a:normAutofit/>
          </a:bodyPr>
          <a:lstStyle/>
          <a:p>
            <a:pPr marL="0" indent="0" algn="l">
              <a:lnSpc>
                <a:spcPts val="5600"/>
              </a:lnSpc>
              <a:buNone/>
            </a:pPr>
            <a:r>
              <a:rPr lang="en-US" sz="4000" b="1" kern="0" spc="-100" dirty="0">
                <a:solidFill>
                  <a:srgbClr val="202737"/>
                </a:solidFill>
                <a:latin typeface="Manrope" pitchFamily="34" charset="0"/>
                <a:ea typeface="Manrope" pitchFamily="34" charset="-122"/>
                <a:cs typeface="Manrope" pitchFamily="34" charset="-120"/>
              </a:rPr>
              <a:t>19.425,96</a:t>
            </a:r>
            <a:endParaRPr lang="en-US" sz="4000" dirty="0"/>
          </a:p>
        </p:txBody>
      </p:sp>
      <p:sp>
        <p:nvSpPr>
          <p:cNvPr id="7" name="Text 5"/>
          <p:cNvSpPr/>
          <p:nvPr/>
        </p:nvSpPr>
        <p:spPr>
          <a:xfrm>
            <a:off x="3626644" y="3075880"/>
            <a:ext cx="2361989"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82889A"/>
                </a:solidFill>
                <a:latin typeface="DM Sans" pitchFamily="34" charset="0"/>
                <a:ea typeface="DM Sans" pitchFamily="34" charset="-122"/>
                <a:cs typeface="DM Sans" pitchFamily="34" charset="-120"/>
              </a:rPr>
              <a:t>In the spreadsheet</a:t>
            </a:r>
            <a:endParaRPr lang="en-US" sz="1300" dirty="0"/>
          </a:p>
        </p:txBody>
      </p:sp>
      <p:sp>
        <p:nvSpPr>
          <p:cNvPr id="8" name="Text 6"/>
          <p:cNvSpPr/>
          <p:nvPr/>
        </p:nvSpPr>
        <p:spPr>
          <a:xfrm>
            <a:off x="3626644" y="3357811"/>
            <a:ext cx="2751832" cy="736600"/>
          </a:xfrm>
          <a:prstGeom prst="rect">
            <a:avLst/>
          </a:prstGeom>
          <a:noFill/>
          <a:ln/>
        </p:spPr>
        <p:txBody>
          <a:bodyPr wrap="square" lIns="0" tIns="0" rIns="0" bIns="0" rtlCol="0" anchor="t">
            <a:normAutofit/>
          </a:bodyPr>
          <a:lstStyle/>
          <a:p>
            <a:pPr marL="0" indent="0" algn="l">
              <a:lnSpc>
                <a:spcPts val="5600"/>
              </a:lnSpc>
              <a:buNone/>
            </a:pPr>
            <a:r>
              <a:rPr lang="en-US" sz="4000" b="1" kern="0" spc="-100" dirty="0">
                <a:solidFill>
                  <a:srgbClr val="202737"/>
                </a:solidFill>
                <a:latin typeface="Manrope" pitchFamily="34" charset="0"/>
                <a:ea typeface="Manrope" pitchFamily="34" charset="-122"/>
                <a:cs typeface="Manrope" pitchFamily="34" charset="-120"/>
              </a:rPr>
              <a:t>19.4</a:t>
            </a:r>
            <a:r>
              <a:rPr lang="en-US" sz="4000" b="1" kern="0" spc="-100" dirty="0">
                <a:solidFill>
                  <a:srgbClr val="A7732A"/>
                </a:solidFill>
                <a:latin typeface="Manrope" pitchFamily="34" charset="0"/>
                <a:ea typeface="Manrope" pitchFamily="34" charset="-122"/>
                <a:cs typeface="Manrope" pitchFamily="34" charset="-120"/>
              </a:rPr>
              <a:t>52</a:t>
            </a:r>
            <a:r>
              <a:rPr lang="en-US" sz="4000" b="1" kern="0" spc="-100" dirty="0">
                <a:solidFill>
                  <a:srgbClr val="202737"/>
                </a:solidFill>
                <a:latin typeface="Manrope" pitchFamily="34" charset="0"/>
                <a:ea typeface="Manrope" pitchFamily="34" charset="-122"/>
                <a:cs typeface="Manrope" pitchFamily="34" charset="-120"/>
              </a:rPr>
              <a:t>,96</a:t>
            </a:r>
            <a:endParaRPr lang="en-US" sz="4000" dirty="0"/>
          </a:p>
        </p:txBody>
      </p:sp>
      <p:sp>
        <p:nvSpPr>
          <p:cNvPr id="9" name="Text 7"/>
          <p:cNvSpPr/>
          <p:nvPr/>
        </p:nvSpPr>
        <p:spPr>
          <a:xfrm>
            <a:off x="812800" y="4424611"/>
            <a:ext cx="10883392" cy="3302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4A5368"/>
                </a:solidFill>
                <a:latin typeface="DM Sans" pitchFamily="34" charset="0"/>
                <a:ea typeface="DM Sans" pitchFamily="34" charset="-122"/>
                <a:cs typeface="DM Sans" pitchFamily="34" charset="-120"/>
              </a:rPr>
              <a:t>A typo like this is easy to make and hard to find later.</a:t>
            </a:r>
            <a:endParaRPr lang="en-US" sz="1600" dirty="0"/>
          </a:p>
        </p:txBody>
      </p:sp>
      <p:sp>
        <p:nvSpPr>
          <p:cNvPr id="10" name="Text 8"/>
          <p:cNvSpPr/>
          <p:nvPr/>
        </p:nvSpPr>
        <p:spPr>
          <a:xfrm>
            <a:off x="812800" y="6238280"/>
            <a:ext cx="40828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2889A"/>
                </a:solidFill>
                <a:latin typeface="DM Sans" pitchFamily="34" charset="0"/>
                <a:ea typeface="DM Sans" pitchFamily="34" charset="-122"/>
                <a:cs typeface="DM Sans" pitchFamily="34" charset="-120"/>
              </a:rPr>
              <a:t>3.5 CarthAsians · Zero-Hallucination Audit Agent</a:t>
            </a:r>
            <a:endParaRPr lang="en-US" sz="1200" dirty="0"/>
          </a:p>
        </p:txBody>
      </p:sp>
      <p:sp>
        <p:nvSpPr>
          <p:cNvPr id="11" name="Text 9"/>
          <p:cNvSpPr/>
          <p:nvPr/>
        </p:nvSpPr>
        <p:spPr>
          <a:xfrm>
            <a:off x="11137900" y="6238280"/>
            <a:ext cx="241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2889A"/>
                </a:solidFill>
                <a:latin typeface="DM Sans" pitchFamily="34" charset="0"/>
                <a:ea typeface="DM Sans" pitchFamily="34" charset="-122"/>
                <a:cs typeface="DM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3C4FBA"/>
                </a:solidFill>
                <a:latin typeface="DM Sans" pitchFamily="34" charset="0"/>
                <a:ea typeface="DM Sans" pitchFamily="34" charset="-122"/>
                <a:cs typeface="DM Sans" pitchFamily="34" charset="-120"/>
              </a:rPr>
              <a:t>THE SOLUTION</a:t>
            </a:r>
            <a:endParaRPr lang="en-US" sz="1200" dirty="0"/>
          </a:p>
        </p:txBody>
      </p:sp>
      <p:sp>
        <p:nvSpPr>
          <p:cNvPr id="3" name="Text 1"/>
          <p:cNvSpPr>
            <a:spLocks noGrp="1"/>
          </p:cNvSpPr>
          <p:nvPr>
            <p:ph type="title"/>
          </p:nvPr>
        </p:nvSpPr>
        <p:spPr>
          <a:xfrm>
            <a:off x="812800" y="115312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kern="0" spc="-100" dirty="0">
                <a:solidFill>
                  <a:srgbClr val="202737"/>
                </a:solidFill>
                <a:latin typeface="Manrope" pitchFamily="34" charset="0"/>
                <a:ea typeface="Manrope" pitchFamily="34" charset="-122"/>
                <a:cs typeface="Manrope" pitchFamily="34" charset="-120"/>
              </a:rPr>
              <a:t>From unfamiliar reports to traceable values</a:t>
            </a:r>
            <a:endParaRPr lang="en-US" sz="3600" dirty="0"/>
          </a:p>
        </p:txBody>
      </p:sp>
      <p:sp>
        <p:nvSpPr>
          <p:cNvPr id="4" name="Text 2"/>
          <p:cNvSpPr/>
          <p:nvPr/>
        </p:nvSpPr>
        <p:spPr>
          <a:xfrm>
            <a:off x="812800" y="188208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7A68"/>
                </a:solidFill>
                <a:latin typeface="DM Sans" pitchFamily="34" charset="0"/>
                <a:ea typeface="DM Sans" pitchFamily="34" charset="-122"/>
                <a:cs typeface="DM Sans" pitchFamily="34" charset="-120"/>
              </a:rPr>
              <a:t>The model interprets layout. Code reads the amounts.</a:t>
            </a:r>
            <a:endParaRPr lang="en-US" sz="1600" dirty="0"/>
          </a:p>
        </p:txBody>
      </p:sp>
      <p:sp>
        <p:nvSpPr>
          <p:cNvPr id="5" name="Text 3"/>
          <p:cNvSpPr/>
          <p:nvPr/>
        </p:nvSpPr>
        <p:spPr>
          <a:xfrm>
            <a:off x="819150" y="3435350"/>
            <a:ext cx="1511300" cy="876300"/>
          </a:xfrm>
          <a:prstGeom prst="roundRect">
            <a:avLst>
              <a:gd name="adj" fmla="val 10870"/>
            </a:avLst>
          </a:prstGeom>
          <a:solidFill>
            <a:srgbClr val="F6F7FA"/>
          </a:solidFill>
          <a:ln w="12700">
            <a:solidFill>
              <a:srgbClr val="C8D1E9"/>
            </a:solidFill>
            <a:prstDash val="solid"/>
          </a:ln>
        </p:spPr>
        <p:txBody>
          <a:bodyPr wrap="square" lIns="156252" tIns="105452" rIns="105452" bIns="105452" rtlCol="0" anchor="ctr">
            <a:normAutofit/>
          </a:bodyPr>
          <a:lstStyle/>
          <a:p>
            <a:pPr marL="0" indent="0" algn="l">
              <a:lnSpc>
                <a:spcPts val="1800"/>
              </a:lnSpc>
              <a:buNone/>
            </a:pPr>
            <a:r>
              <a:rPr lang="en-US" sz="1500" b="1" dirty="0">
                <a:solidFill>
                  <a:srgbClr val="202737"/>
                </a:solidFill>
                <a:latin typeface="Manrope" pitchFamily="34" charset="0"/>
                <a:ea typeface="Manrope" pitchFamily="34" charset="-122"/>
                <a:cs typeface="Manrope" pitchFamily="34" charset="-120"/>
              </a:rPr>
              <a:t>PDF / Excel</a:t>
            </a:r>
            <a:endParaRPr lang="en-US" sz="1500" dirty="0"/>
          </a:p>
        </p:txBody>
      </p:sp>
      <p:sp>
        <p:nvSpPr>
          <p:cNvPr id="6" name="Shape 4"/>
          <p:cNvSpPr/>
          <p:nvPr/>
        </p:nvSpPr>
        <p:spPr>
          <a:xfrm>
            <a:off x="2724150" y="3435350"/>
            <a:ext cx="1892300" cy="876300"/>
          </a:xfrm>
          <a:prstGeom prst="roundRect">
            <a:avLst>
              <a:gd name="adj" fmla="val 10870"/>
            </a:avLst>
          </a:prstGeom>
          <a:solidFill>
            <a:srgbClr val="F6F7FA"/>
          </a:solidFill>
          <a:ln w="12700">
            <a:solidFill>
              <a:srgbClr val="C8D1E9"/>
            </a:solidFill>
            <a:prstDash val="solid"/>
          </a:ln>
        </p:spPr>
        <p:txBody>
          <a:bodyPr/>
          <a:lstStyle/>
          <a:p>
            <a:endParaRPr lang="en-US"/>
          </a:p>
        </p:txBody>
      </p:sp>
      <p:sp>
        <p:nvSpPr>
          <p:cNvPr id="7" name="Text 5"/>
          <p:cNvSpPr/>
          <p:nvPr/>
        </p:nvSpPr>
        <p:spPr>
          <a:xfrm>
            <a:off x="2908300" y="3568700"/>
            <a:ext cx="1663700" cy="415082"/>
          </a:xfrm>
          <a:prstGeom prst="rect">
            <a:avLst/>
          </a:prstGeom>
          <a:noFill/>
          <a:ln/>
        </p:spPr>
        <p:txBody>
          <a:bodyPr wrap="square" lIns="0" tIns="0" rIns="0" bIns="0" rtlCol="0" anchor="t">
            <a:normAutofit/>
          </a:bodyPr>
          <a:lstStyle/>
          <a:p>
            <a:pPr marL="0" indent="0" algn="l">
              <a:lnSpc>
                <a:spcPts val="1783"/>
              </a:lnSpc>
              <a:buNone/>
            </a:pPr>
            <a:r>
              <a:rPr lang="en-US" sz="1486" b="1" dirty="0">
                <a:solidFill>
                  <a:srgbClr val="202737"/>
                </a:solidFill>
                <a:latin typeface="Manrope" pitchFamily="34" charset="0"/>
                <a:ea typeface="Manrope" pitchFamily="34" charset="-122"/>
                <a:cs typeface="Manrope" pitchFamily="34" charset="-120"/>
              </a:rPr>
              <a:t>Source evidence</a:t>
            </a:r>
            <a:endParaRPr lang="en-US" sz="1486" dirty="0"/>
          </a:p>
        </p:txBody>
      </p:sp>
      <p:sp>
        <p:nvSpPr>
          <p:cNvPr id="8" name="Text 6"/>
          <p:cNvSpPr/>
          <p:nvPr/>
        </p:nvSpPr>
        <p:spPr>
          <a:xfrm>
            <a:off x="2908300" y="3996482"/>
            <a:ext cx="1574800" cy="207218"/>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4A5368"/>
                </a:solidFill>
                <a:latin typeface="DM Sans" pitchFamily="34" charset="0"/>
                <a:ea typeface="DM Sans" pitchFamily="34" charset="-122"/>
                <a:cs typeface="DM Sans" pitchFamily="34" charset="-120"/>
              </a:rPr>
              <a:t>text · cells · OCR</a:t>
            </a:r>
            <a:endParaRPr lang="en-US" sz="1050" dirty="0"/>
          </a:p>
        </p:txBody>
      </p:sp>
      <p:sp>
        <p:nvSpPr>
          <p:cNvPr id="9" name="Shape 7"/>
          <p:cNvSpPr/>
          <p:nvPr/>
        </p:nvSpPr>
        <p:spPr>
          <a:xfrm>
            <a:off x="5010150" y="3435350"/>
            <a:ext cx="1892300" cy="876300"/>
          </a:xfrm>
          <a:prstGeom prst="roundRect">
            <a:avLst>
              <a:gd name="adj" fmla="val 10870"/>
            </a:avLst>
          </a:prstGeom>
          <a:solidFill>
            <a:srgbClr val="EDF0FC"/>
          </a:solidFill>
          <a:ln w="12700">
            <a:solidFill>
              <a:srgbClr val="3C4FBA"/>
            </a:solidFill>
            <a:prstDash val="solid"/>
          </a:ln>
        </p:spPr>
        <p:txBody>
          <a:bodyPr/>
          <a:lstStyle/>
          <a:p>
            <a:endParaRPr lang="en-US"/>
          </a:p>
        </p:txBody>
      </p:sp>
      <p:sp>
        <p:nvSpPr>
          <p:cNvPr id="10" name="Text 8"/>
          <p:cNvSpPr/>
          <p:nvPr/>
        </p:nvSpPr>
        <p:spPr>
          <a:xfrm>
            <a:off x="5194300" y="3633490"/>
            <a:ext cx="15748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02737"/>
                </a:solidFill>
                <a:latin typeface="Manrope" pitchFamily="34" charset="0"/>
                <a:ea typeface="Manrope" pitchFamily="34" charset="-122"/>
                <a:cs typeface="Manrope" pitchFamily="34" charset="-120"/>
              </a:rPr>
              <a:t>LLM plan</a:t>
            </a:r>
            <a:endParaRPr lang="en-US" sz="1500" dirty="0"/>
          </a:p>
        </p:txBody>
      </p:sp>
      <p:sp>
        <p:nvSpPr>
          <p:cNvPr id="11" name="Text 9"/>
          <p:cNvSpPr/>
          <p:nvPr/>
        </p:nvSpPr>
        <p:spPr>
          <a:xfrm>
            <a:off x="5194300" y="3900190"/>
            <a:ext cx="157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368"/>
                </a:solidFill>
                <a:latin typeface="DM Sans" pitchFamily="34" charset="0"/>
                <a:ea typeface="DM Sans" pitchFamily="34" charset="-122"/>
                <a:cs typeface="DM Sans" pitchFamily="34" charset="-120"/>
              </a:rPr>
              <a:t>layout → meaning</a:t>
            </a:r>
            <a:endParaRPr lang="en-US" sz="1200" dirty="0"/>
          </a:p>
        </p:txBody>
      </p:sp>
      <p:sp>
        <p:nvSpPr>
          <p:cNvPr id="12" name="Shape 10"/>
          <p:cNvSpPr/>
          <p:nvPr/>
        </p:nvSpPr>
        <p:spPr>
          <a:xfrm>
            <a:off x="7296150" y="3435350"/>
            <a:ext cx="1892300" cy="876300"/>
          </a:xfrm>
          <a:prstGeom prst="roundRect">
            <a:avLst>
              <a:gd name="adj" fmla="val 10870"/>
            </a:avLst>
          </a:prstGeom>
          <a:solidFill>
            <a:srgbClr val="E7F6F2"/>
          </a:solidFill>
          <a:ln w="12700">
            <a:solidFill>
              <a:srgbClr val="2E9C86"/>
            </a:solidFill>
            <a:prstDash val="solid"/>
          </a:ln>
        </p:spPr>
        <p:txBody>
          <a:bodyPr/>
          <a:lstStyle/>
          <a:p>
            <a:endParaRPr lang="en-US"/>
          </a:p>
        </p:txBody>
      </p:sp>
      <p:sp>
        <p:nvSpPr>
          <p:cNvPr id="13" name="Text 11"/>
          <p:cNvSpPr/>
          <p:nvPr/>
        </p:nvSpPr>
        <p:spPr>
          <a:xfrm>
            <a:off x="7480300" y="3633490"/>
            <a:ext cx="15748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02737"/>
                </a:solidFill>
                <a:latin typeface="Manrope" pitchFamily="34" charset="0"/>
                <a:ea typeface="Manrope" pitchFamily="34" charset="-122"/>
                <a:cs typeface="Manrope" pitchFamily="34" charset="-120"/>
              </a:rPr>
              <a:t>Code executor</a:t>
            </a:r>
            <a:endParaRPr lang="en-US" sz="1500" dirty="0"/>
          </a:p>
        </p:txBody>
      </p:sp>
      <p:sp>
        <p:nvSpPr>
          <p:cNvPr id="14" name="Text 12"/>
          <p:cNvSpPr/>
          <p:nvPr/>
        </p:nvSpPr>
        <p:spPr>
          <a:xfrm>
            <a:off x="7480300" y="3900190"/>
            <a:ext cx="157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368"/>
                </a:solidFill>
                <a:latin typeface="DM Sans" pitchFamily="34" charset="0"/>
                <a:ea typeface="DM Sans" pitchFamily="34" charset="-122"/>
                <a:cs typeface="DM Sans" pitchFamily="34" charset="-120"/>
              </a:rPr>
              <a:t>retrieve + parse</a:t>
            </a:r>
            <a:endParaRPr lang="en-US" sz="1200" dirty="0"/>
          </a:p>
        </p:txBody>
      </p:sp>
      <p:sp>
        <p:nvSpPr>
          <p:cNvPr id="15" name="Text 13"/>
          <p:cNvSpPr/>
          <p:nvPr/>
        </p:nvSpPr>
        <p:spPr>
          <a:xfrm>
            <a:off x="9582150" y="2800350"/>
            <a:ext cx="1790700" cy="622300"/>
          </a:xfrm>
          <a:prstGeom prst="roundRect">
            <a:avLst>
              <a:gd name="adj" fmla="val 15306"/>
            </a:avLst>
          </a:prstGeom>
          <a:solidFill>
            <a:srgbClr val="E7F6F2"/>
          </a:solidFill>
          <a:ln w="12700">
            <a:solidFill>
              <a:srgbClr val="2E9C86"/>
            </a:solidFill>
            <a:prstDash val="solid"/>
          </a:ln>
        </p:spPr>
        <p:txBody>
          <a:bodyPr wrap="square" lIns="156252" tIns="80052" rIns="105452" bIns="80052" rtlCol="0" anchor="ctr">
            <a:normAutofit/>
          </a:bodyPr>
          <a:lstStyle/>
          <a:p>
            <a:pPr marL="0" indent="0" algn="l">
              <a:lnSpc>
                <a:spcPts val="1680"/>
              </a:lnSpc>
              <a:buNone/>
            </a:pPr>
            <a:r>
              <a:rPr lang="en-US" sz="1400" b="1" dirty="0">
                <a:solidFill>
                  <a:srgbClr val="202737"/>
                </a:solidFill>
                <a:latin typeface="Manrope" pitchFamily="34" charset="0"/>
                <a:ea typeface="Manrope" pitchFamily="34" charset="-122"/>
                <a:cs typeface="Manrope" pitchFamily="34" charset="-120"/>
              </a:rPr>
              <a:t>JSON</a:t>
            </a:r>
            <a:endParaRPr lang="en-US" sz="1400" dirty="0"/>
          </a:p>
        </p:txBody>
      </p:sp>
      <p:sp>
        <p:nvSpPr>
          <p:cNvPr id="16" name="Text 14"/>
          <p:cNvSpPr/>
          <p:nvPr/>
        </p:nvSpPr>
        <p:spPr>
          <a:xfrm>
            <a:off x="9582150" y="3562350"/>
            <a:ext cx="1790700" cy="622300"/>
          </a:xfrm>
          <a:prstGeom prst="roundRect">
            <a:avLst>
              <a:gd name="adj" fmla="val 15306"/>
            </a:avLst>
          </a:prstGeom>
          <a:solidFill>
            <a:srgbClr val="E7F6F2"/>
          </a:solidFill>
          <a:ln w="12700">
            <a:solidFill>
              <a:srgbClr val="2E9C86"/>
            </a:solidFill>
            <a:prstDash val="solid"/>
          </a:ln>
        </p:spPr>
        <p:txBody>
          <a:bodyPr wrap="square" lIns="156252" tIns="80052" rIns="105452" bIns="80052" rtlCol="0" anchor="ctr">
            <a:normAutofit/>
          </a:bodyPr>
          <a:lstStyle/>
          <a:p>
            <a:pPr marL="0" indent="0" algn="l">
              <a:lnSpc>
                <a:spcPts val="1680"/>
              </a:lnSpc>
              <a:buNone/>
            </a:pPr>
            <a:r>
              <a:rPr lang="en-US" sz="1400" b="1" dirty="0">
                <a:solidFill>
                  <a:srgbClr val="202737"/>
                </a:solidFill>
                <a:latin typeface="Manrope" pitchFamily="34" charset="0"/>
                <a:ea typeface="Manrope" pitchFamily="34" charset="-122"/>
                <a:cs typeface="Manrope" pitchFamily="34" charset="-120"/>
              </a:rPr>
              <a:t>Arbeitsversion</a:t>
            </a:r>
            <a:endParaRPr lang="en-US" sz="1400" dirty="0"/>
          </a:p>
        </p:txBody>
      </p:sp>
      <p:sp>
        <p:nvSpPr>
          <p:cNvPr id="17" name="Text 15"/>
          <p:cNvSpPr/>
          <p:nvPr/>
        </p:nvSpPr>
        <p:spPr>
          <a:xfrm>
            <a:off x="9582150" y="4324350"/>
            <a:ext cx="1790700" cy="622300"/>
          </a:xfrm>
          <a:prstGeom prst="roundRect">
            <a:avLst>
              <a:gd name="adj" fmla="val 15306"/>
            </a:avLst>
          </a:prstGeom>
          <a:solidFill>
            <a:srgbClr val="E7F6F2"/>
          </a:solidFill>
          <a:ln w="12700">
            <a:solidFill>
              <a:srgbClr val="2E9C86"/>
            </a:solidFill>
            <a:prstDash val="solid"/>
          </a:ln>
        </p:spPr>
        <p:txBody>
          <a:bodyPr wrap="square" lIns="156252" tIns="67352" rIns="105452" bIns="67352" rtlCol="0" anchor="ctr">
            <a:normAutofit/>
          </a:bodyPr>
          <a:lstStyle/>
          <a:p>
            <a:pPr marL="0" indent="0" algn="l">
              <a:lnSpc>
                <a:spcPts val="1612"/>
              </a:lnSpc>
              <a:buNone/>
            </a:pPr>
            <a:r>
              <a:rPr lang="en-US" sz="1343" b="1" dirty="0">
                <a:solidFill>
                  <a:srgbClr val="202737"/>
                </a:solidFill>
                <a:latin typeface="Manrope" pitchFamily="34" charset="0"/>
                <a:ea typeface="Manrope" pitchFamily="34" charset="-122"/>
                <a:cs typeface="Manrope" pitchFamily="34" charset="-120"/>
              </a:rPr>
              <a:t>Review + evidence</a:t>
            </a:r>
            <a:endParaRPr lang="en-US" sz="1343" dirty="0"/>
          </a:p>
        </p:txBody>
      </p:sp>
      <p:pic>
        <p:nvPicPr>
          <p:cNvPr id="18" name="Image 0" descr="connector"/>
          <p:cNvPicPr>
            <a:picLocks noChangeAspect="1"/>
          </p:cNvPicPr>
          <p:nvPr/>
        </p:nvPicPr>
        <p:blipFill>
          <a:blip r:embed="rId3"/>
          <a:srcRect/>
          <a:stretch/>
        </p:blipFill>
        <p:spPr>
          <a:xfrm>
            <a:off x="2286000" y="3822700"/>
            <a:ext cx="482600" cy="101600"/>
          </a:xfrm>
          <a:prstGeom prst="rect">
            <a:avLst/>
          </a:prstGeom>
        </p:spPr>
      </p:pic>
      <p:pic>
        <p:nvPicPr>
          <p:cNvPr id="19" name="Image 1" descr="connector"/>
          <p:cNvPicPr>
            <a:picLocks noChangeAspect="1"/>
          </p:cNvPicPr>
          <p:nvPr/>
        </p:nvPicPr>
        <p:blipFill>
          <a:blip r:embed="rId3"/>
          <a:srcRect/>
          <a:stretch/>
        </p:blipFill>
        <p:spPr>
          <a:xfrm>
            <a:off x="4572000" y="3822700"/>
            <a:ext cx="482600" cy="101600"/>
          </a:xfrm>
          <a:prstGeom prst="rect">
            <a:avLst/>
          </a:prstGeom>
        </p:spPr>
      </p:pic>
      <p:pic>
        <p:nvPicPr>
          <p:cNvPr id="20" name="Image 2" descr="connector"/>
          <p:cNvPicPr>
            <a:picLocks noChangeAspect="1"/>
          </p:cNvPicPr>
          <p:nvPr/>
        </p:nvPicPr>
        <p:blipFill>
          <a:blip r:embed="rId3"/>
          <a:srcRect/>
          <a:stretch/>
        </p:blipFill>
        <p:spPr>
          <a:xfrm>
            <a:off x="6858000" y="3822700"/>
            <a:ext cx="482600" cy="101600"/>
          </a:xfrm>
          <a:prstGeom prst="rect">
            <a:avLst/>
          </a:prstGeom>
        </p:spPr>
      </p:pic>
      <p:pic>
        <p:nvPicPr>
          <p:cNvPr id="21" name="Image 3" descr="connector"/>
          <p:cNvPicPr>
            <a:picLocks noChangeAspect="1"/>
          </p:cNvPicPr>
          <p:nvPr/>
        </p:nvPicPr>
        <p:blipFill>
          <a:blip r:embed="rId4"/>
          <a:srcRect/>
          <a:stretch/>
        </p:blipFill>
        <p:spPr>
          <a:xfrm>
            <a:off x="9144000" y="3060700"/>
            <a:ext cx="482600" cy="863600"/>
          </a:xfrm>
          <a:prstGeom prst="rect">
            <a:avLst/>
          </a:prstGeom>
        </p:spPr>
      </p:pic>
      <p:pic>
        <p:nvPicPr>
          <p:cNvPr id="22" name="Image 4" descr="connector"/>
          <p:cNvPicPr>
            <a:picLocks noChangeAspect="1"/>
          </p:cNvPicPr>
          <p:nvPr/>
        </p:nvPicPr>
        <p:blipFill>
          <a:blip r:embed="rId3"/>
          <a:srcRect/>
          <a:stretch/>
        </p:blipFill>
        <p:spPr>
          <a:xfrm>
            <a:off x="9144000" y="3822700"/>
            <a:ext cx="482600" cy="101600"/>
          </a:xfrm>
          <a:prstGeom prst="rect">
            <a:avLst/>
          </a:prstGeom>
        </p:spPr>
      </p:pic>
      <p:pic>
        <p:nvPicPr>
          <p:cNvPr id="23" name="Image 5" descr="connector"/>
          <p:cNvPicPr>
            <a:picLocks noChangeAspect="1"/>
          </p:cNvPicPr>
          <p:nvPr/>
        </p:nvPicPr>
        <p:blipFill>
          <a:blip r:embed="rId5"/>
          <a:srcRect/>
          <a:stretch/>
        </p:blipFill>
        <p:spPr>
          <a:xfrm>
            <a:off x="9144000" y="3822700"/>
            <a:ext cx="482600" cy="863600"/>
          </a:xfrm>
          <a:prstGeom prst="rect">
            <a:avLst/>
          </a:prstGeom>
        </p:spPr>
      </p:pic>
      <p:pic>
        <p:nvPicPr>
          <p:cNvPr id="24" name="Image 6" descr="connector"/>
          <p:cNvPicPr>
            <a:picLocks noChangeAspect="1"/>
          </p:cNvPicPr>
          <p:nvPr/>
        </p:nvPicPr>
        <p:blipFill>
          <a:blip r:embed="rId6"/>
          <a:srcRect/>
          <a:stretch/>
        </p:blipFill>
        <p:spPr>
          <a:xfrm>
            <a:off x="3619500" y="4267200"/>
            <a:ext cx="101600" cy="736600"/>
          </a:xfrm>
          <a:prstGeom prst="rect">
            <a:avLst/>
          </a:prstGeom>
        </p:spPr>
      </p:pic>
      <p:pic>
        <p:nvPicPr>
          <p:cNvPr id="25" name="Image 7" descr="connector"/>
          <p:cNvPicPr>
            <a:picLocks noChangeAspect="1"/>
          </p:cNvPicPr>
          <p:nvPr/>
        </p:nvPicPr>
        <p:blipFill>
          <a:blip r:embed="rId7"/>
          <a:srcRect/>
          <a:stretch/>
        </p:blipFill>
        <p:spPr>
          <a:xfrm>
            <a:off x="3619500" y="4902200"/>
            <a:ext cx="4673600" cy="101600"/>
          </a:xfrm>
          <a:prstGeom prst="rect">
            <a:avLst/>
          </a:prstGeom>
        </p:spPr>
      </p:pic>
      <p:pic>
        <p:nvPicPr>
          <p:cNvPr id="26" name="Image 8" descr="connector"/>
          <p:cNvPicPr>
            <a:picLocks noChangeAspect="1"/>
          </p:cNvPicPr>
          <p:nvPr/>
        </p:nvPicPr>
        <p:blipFill>
          <a:blip r:embed="rId8"/>
          <a:srcRect/>
          <a:stretch/>
        </p:blipFill>
        <p:spPr>
          <a:xfrm>
            <a:off x="8191500" y="4267200"/>
            <a:ext cx="101600" cy="736600"/>
          </a:xfrm>
          <a:prstGeom prst="rect">
            <a:avLst/>
          </a:prstGeom>
        </p:spPr>
      </p:pic>
      <p:sp>
        <p:nvSpPr>
          <p:cNvPr id="27" name="Text 16"/>
          <p:cNvSpPr/>
          <p:nvPr/>
        </p:nvSpPr>
        <p:spPr>
          <a:xfrm>
            <a:off x="4975225" y="5080000"/>
            <a:ext cx="196215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F7A68"/>
                </a:solidFill>
                <a:latin typeface="DM Sans" pitchFamily="34" charset="0"/>
                <a:ea typeface="DM Sans" pitchFamily="34" charset="-122"/>
                <a:cs typeface="DM Sans" pitchFamily="34" charset="-120"/>
              </a:rPr>
              <a:t>original values</a:t>
            </a:r>
            <a:endParaRPr lang="en-US" sz="1200" dirty="0"/>
          </a:p>
        </p:txBody>
      </p:sp>
      <p:sp>
        <p:nvSpPr>
          <p:cNvPr id="28" name="Text 17"/>
          <p:cNvSpPr/>
          <p:nvPr/>
        </p:nvSpPr>
        <p:spPr>
          <a:xfrm>
            <a:off x="812800" y="54737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368"/>
                </a:solidFill>
                <a:latin typeface="DM Sans" pitchFamily="34" charset="0"/>
                <a:ea typeface="DM Sans" pitchFamily="34" charset="-122"/>
                <a:cs typeface="DM Sans" pitchFamily="34" charset="-120"/>
              </a:rPr>
              <a:t>Source evidence stays attached through JSON, workbook and review.</a:t>
            </a:r>
            <a:endParaRPr lang="en-US" sz="1300" dirty="0"/>
          </a:p>
        </p:txBody>
      </p:sp>
      <p:sp>
        <p:nvSpPr>
          <p:cNvPr id="29" name="Text 18"/>
          <p:cNvSpPr/>
          <p:nvPr/>
        </p:nvSpPr>
        <p:spPr>
          <a:xfrm>
            <a:off x="812800" y="6238280"/>
            <a:ext cx="40828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2889A"/>
                </a:solidFill>
                <a:latin typeface="DM Sans" pitchFamily="34" charset="0"/>
                <a:ea typeface="DM Sans" pitchFamily="34" charset="-122"/>
                <a:cs typeface="DM Sans" pitchFamily="34" charset="-120"/>
              </a:rPr>
              <a:t>3.5 CarthAsians · Zero-Hallucination Audit Agent</a:t>
            </a:r>
            <a:endParaRPr lang="en-US" sz="1200" dirty="0"/>
          </a:p>
        </p:txBody>
      </p:sp>
      <p:sp>
        <p:nvSpPr>
          <p:cNvPr id="30" name="Text 19"/>
          <p:cNvSpPr/>
          <p:nvPr/>
        </p:nvSpPr>
        <p:spPr>
          <a:xfrm>
            <a:off x="11134080" y="6238280"/>
            <a:ext cx="24512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2889A"/>
                </a:solidFill>
                <a:latin typeface="DM Sans" pitchFamily="34" charset="0"/>
                <a:ea typeface="DM Sans" pitchFamily="34" charset="-122"/>
                <a:cs typeface="DM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3C4FBA"/>
                </a:solidFill>
                <a:latin typeface="DM Sans" pitchFamily="34" charset="0"/>
                <a:ea typeface="DM Sans" pitchFamily="34" charset="-122"/>
                <a:cs typeface="DM Sans" pitchFamily="34" charset="-120"/>
              </a:rPr>
              <a:t>STEP 1 · EVIDENCE</a:t>
            </a:r>
            <a:endParaRPr lang="en-US" sz="1200" dirty="0"/>
          </a:p>
        </p:txBody>
      </p:sp>
      <p:sp>
        <p:nvSpPr>
          <p:cNvPr id="3" name="Text 1"/>
          <p:cNvSpPr>
            <a:spLocks noGrp="1"/>
          </p:cNvSpPr>
          <p:nvPr>
            <p:ph type="title"/>
          </p:nvPr>
        </p:nvSpPr>
        <p:spPr>
          <a:xfrm>
            <a:off x="812800" y="115312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kern="0" spc="-100" dirty="0">
                <a:solidFill>
                  <a:srgbClr val="202737"/>
                </a:solidFill>
                <a:latin typeface="Manrope" pitchFamily="34" charset="0"/>
                <a:ea typeface="Manrope" pitchFamily="34" charset="-122"/>
                <a:cs typeface="Manrope" pitchFamily="34" charset="-120"/>
              </a:rPr>
              <a:t>Capture evidence before assigning meaning</a:t>
            </a:r>
            <a:endParaRPr lang="en-US" sz="3600" dirty="0"/>
          </a:p>
        </p:txBody>
      </p:sp>
      <p:sp>
        <p:nvSpPr>
          <p:cNvPr id="4" name="Text 2"/>
          <p:cNvSpPr/>
          <p:nvPr/>
        </p:nvSpPr>
        <p:spPr>
          <a:xfrm>
            <a:off x="812800" y="188208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368"/>
                </a:solidFill>
                <a:latin typeface="DM Sans" pitchFamily="34" charset="0"/>
                <a:ea typeface="DM Sans" pitchFamily="34" charset="-122"/>
                <a:cs typeface="DM Sans" pitchFamily="34" charset="-120"/>
              </a:rPr>
              <a:t>One Excel cell, three linked facts.</a:t>
            </a:r>
            <a:endParaRPr lang="en-US" sz="1600" dirty="0"/>
          </a:p>
        </p:txBody>
      </p:sp>
      <p:sp>
        <p:nvSpPr>
          <p:cNvPr id="5" name="Shape 3"/>
          <p:cNvSpPr/>
          <p:nvPr/>
        </p:nvSpPr>
        <p:spPr>
          <a:xfrm>
            <a:off x="819150" y="3181350"/>
            <a:ext cx="3035300" cy="1638300"/>
          </a:xfrm>
          <a:prstGeom prst="roundRect">
            <a:avLst>
              <a:gd name="adj" fmla="val 5814"/>
            </a:avLst>
          </a:prstGeom>
          <a:solidFill>
            <a:srgbClr val="F6F7FA"/>
          </a:solidFill>
          <a:ln w="12700">
            <a:solidFill>
              <a:srgbClr val="C8D1E9"/>
            </a:solidFill>
            <a:prstDash val="solid"/>
          </a:ln>
        </p:spPr>
        <p:txBody>
          <a:bodyPr/>
          <a:lstStyle/>
          <a:p>
            <a:endParaRPr lang="en-US"/>
          </a:p>
        </p:txBody>
      </p:sp>
      <p:sp>
        <p:nvSpPr>
          <p:cNvPr id="6" name="Text 4"/>
          <p:cNvSpPr/>
          <p:nvPr/>
        </p:nvSpPr>
        <p:spPr>
          <a:xfrm>
            <a:off x="1079500" y="3435350"/>
            <a:ext cx="2590038"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368"/>
                </a:solidFill>
                <a:latin typeface="DM Sans" pitchFamily="34" charset="0"/>
                <a:ea typeface="DM Sans" pitchFamily="34" charset="-122"/>
                <a:cs typeface="DM Sans" pitchFamily="34" charset="-120"/>
              </a:rPr>
              <a:t>Excel source</a:t>
            </a:r>
            <a:endParaRPr lang="en-US" sz="1300" dirty="0"/>
          </a:p>
        </p:txBody>
      </p:sp>
      <p:sp>
        <p:nvSpPr>
          <p:cNvPr id="7" name="Text 5"/>
          <p:cNvSpPr/>
          <p:nvPr/>
        </p:nvSpPr>
        <p:spPr>
          <a:xfrm>
            <a:off x="1079500" y="3742680"/>
            <a:ext cx="259003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02737"/>
                </a:solidFill>
                <a:latin typeface="DM Sans" pitchFamily="34" charset="0"/>
                <a:ea typeface="DM Sans" pitchFamily="34" charset="-122"/>
                <a:cs typeface="DM Sans" pitchFamily="34" charset="-120"/>
              </a:rPr>
              <a:t>Assets!B2</a:t>
            </a:r>
            <a:endParaRPr lang="en-US" sz="1400" dirty="0"/>
          </a:p>
        </p:txBody>
      </p:sp>
      <p:sp>
        <p:nvSpPr>
          <p:cNvPr id="8" name="Text 6"/>
          <p:cNvSpPr/>
          <p:nvPr/>
        </p:nvSpPr>
        <p:spPr>
          <a:xfrm>
            <a:off x="1079500" y="4067770"/>
            <a:ext cx="2590038"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02737"/>
                </a:solidFill>
                <a:latin typeface="Manrope" pitchFamily="34" charset="0"/>
                <a:ea typeface="Manrope" pitchFamily="34" charset="-122"/>
                <a:cs typeface="Manrope" pitchFamily="34" charset="-120"/>
              </a:rPr>
              <a:t>123.45</a:t>
            </a:r>
            <a:endParaRPr lang="en-US" sz="2800" dirty="0"/>
          </a:p>
        </p:txBody>
      </p:sp>
      <p:sp>
        <p:nvSpPr>
          <p:cNvPr id="9" name="Shape 7"/>
          <p:cNvSpPr/>
          <p:nvPr/>
        </p:nvSpPr>
        <p:spPr>
          <a:xfrm>
            <a:off x="4578350" y="3181350"/>
            <a:ext cx="3035300" cy="1638300"/>
          </a:xfrm>
          <a:prstGeom prst="roundRect">
            <a:avLst>
              <a:gd name="adj" fmla="val 5814"/>
            </a:avLst>
          </a:prstGeom>
          <a:solidFill>
            <a:srgbClr val="E7F6F2"/>
          </a:solidFill>
          <a:ln w="12700">
            <a:solidFill>
              <a:srgbClr val="2E9C86"/>
            </a:solidFill>
            <a:prstDash val="solid"/>
          </a:ln>
        </p:spPr>
        <p:txBody>
          <a:bodyPr/>
          <a:lstStyle/>
          <a:p>
            <a:endParaRPr lang="en-US"/>
          </a:p>
        </p:txBody>
      </p:sp>
      <p:sp>
        <p:nvSpPr>
          <p:cNvPr id="10" name="Text 8"/>
          <p:cNvSpPr/>
          <p:nvPr/>
        </p:nvSpPr>
        <p:spPr>
          <a:xfrm>
            <a:off x="4838700" y="3435350"/>
            <a:ext cx="2590038"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368"/>
                </a:solidFill>
                <a:latin typeface="DM Sans" pitchFamily="34" charset="0"/>
                <a:ea typeface="DM Sans" pitchFamily="34" charset="-122"/>
                <a:cs typeface="DM Sans" pitchFamily="34" charset="-120"/>
              </a:rPr>
              <a:t>Source token</a:t>
            </a:r>
            <a:endParaRPr lang="en-US" sz="1300" dirty="0"/>
          </a:p>
        </p:txBody>
      </p:sp>
      <p:sp>
        <p:nvSpPr>
          <p:cNvPr id="11" name="Text 9"/>
          <p:cNvSpPr/>
          <p:nvPr/>
        </p:nvSpPr>
        <p:spPr>
          <a:xfrm>
            <a:off x="4838700" y="3742680"/>
            <a:ext cx="2590038"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7A68"/>
                </a:solidFill>
                <a:latin typeface="DM Sans" pitchFamily="34" charset="0"/>
                <a:ea typeface="DM Sans" pitchFamily="34" charset="-122"/>
                <a:cs typeface="DM Sans" pitchFamily="34" charset="-120"/>
              </a:rPr>
              <a:t>id: t3</a:t>
            </a:r>
            <a:endParaRPr lang="en-US" sz="1600" dirty="0"/>
          </a:p>
        </p:txBody>
      </p:sp>
      <p:sp>
        <p:nvSpPr>
          <p:cNvPr id="12" name="Text 10"/>
          <p:cNvSpPr/>
          <p:nvPr/>
        </p:nvSpPr>
        <p:spPr>
          <a:xfrm>
            <a:off x="4838700" y="4103340"/>
            <a:ext cx="259003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02737"/>
                </a:solidFill>
                <a:latin typeface="DM Sans" pitchFamily="34" charset="0"/>
                <a:ea typeface="DM Sans" pitchFamily="34" charset="-122"/>
                <a:cs typeface="DM Sans" pitchFamily="34" charset="-120"/>
              </a:rPr>
              <a:t>text: 123.45</a:t>
            </a:r>
            <a:endParaRPr lang="en-US" sz="1300" dirty="0"/>
          </a:p>
          <a:p>
            <a:pPr marL="0" indent="0" algn="l">
              <a:lnSpc>
                <a:spcPts val="1820"/>
              </a:lnSpc>
              <a:buNone/>
            </a:pPr>
            <a:r>
              <a:rPr lang="en-US" sz="1300" dirty="0">
                <a:solidFill>
                  <a:srgbClr val="202737"/>
                </a:solidFill>
                <a:latin typeface="DM Sans" pitchFamily="34" charset="0"/>
                <a:ea typeface="DM Sans" pitchFamily="34" charset="-122"/>
                <a:cs typeface="DM Sans" pitchFamily="34" charset="-120"/>
              </a:rPr>
              <a:t>value: 123.45</a:t>
            </a:r>
            <a:endParaRPr lang="en-US" sz="1300" dirty="0"/>
          </a:p>
        </p:txBody>
      </p:sp>
      <p:sp>
        <p:nvSpPr>
          <p:cNvPr id="13" name="Shape 11"/>
          <p:cNvSpPr/>
          <p:nvPr/>
        </p:nvSpPr>
        <p:spPr>
          <a:xfrm>
            <a:off x="8337550" y="3181350"/>
            <a:ext cx="3035300" cy="1638300"/>
          </a:xfrm>
          <a:prstGeom prst="roundRect">
            <a:avLst>
              <a:gd name="adj" fmla="val 5814"/>
            </a:avLst>
          </a:prstGeom>
          <a:solidFill>
            <a:srgbClr val="E7F6F2"/>
          </a:solidFill>
          <a:ln w="12700">
            <a:solidFill>
              <a:srgbClr val="2E9C86"/>
            </a:solidFill>
            <a:prstDash val="solid"/>
          </a:ln>
        </p:spPr>
        <p:txBody>
          <a:bodyPr/>
          <a:lstStyle/>
          <a:p>
            <a:endParaRPr lang="en-US"/>
          </a:p>
        </p:txBody>
      </p:sp>
      <p:sp>
        <p:nvSpPr>
          <p:cNvPr id="14" name="Text 12"/>
          <p:cNvSpPr/>
          <p:nvPr/>
        </p:nvSpPr>
        <p:spPr>
          <a:xfrm>
            <a:off x="8597900" y="3562350"/>
            <a:ext cx="2590038"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368"/>
                </a:solidFill>
                <a:latin typeface="DM Sans" pitchFamily="34" charset="0"/>
                <a:ea typeface="DM Sans" pitchFamily="34" charset="-122"/>
                <a:cs typeface="DM Sans" pitchFamily="34" charset="-120"/>
              </a:rPr>
              <a:t>Exact pointer</a:t>
            </a:r>
            <a:endParaRPr lang="en-US" sz="1300" dirty="0"/>
          </a:p>
        </p:txBody>
      </p:sp>
      <p:sp>
        <p:nvSpPr>
          <p:cNvPr id="15" name="Text 13"/>
          <p:cNvSpPr/>
          <p:nvPr/>
        </p:nvSpPr>
        <p:spPr>
          <a:xfrm>
            <a:off x="8597900" y="3869680"/>
            <a:ext cx="2590038"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7A68"/>
                </a:solidFill>
                <a:latin typeface="DM Sans" pitchFamily="34" charset="0"/>
                <a:ea typeface="DM Sans" pitchFamily="34" charset="-122"/>
                <a:cs typeface="DM Sans" pitchFamily="34" charset="-120"/>
              </a:rPr>
              <a:t>sheet: Assets</a:t>
            </a:r>
            <a:endParaRPr lang="en-US" sz="1600" dirty="0"/>
          </a:p>
          <a:p>
            <a:pPr marL="0" indent="0" algn="l">
              <a:lnSpc>
                <a:spcPts val="2240"/>
              </a:lnSpc>
              <a:buNone/>
            </a:pPr>
            <a:r>
              <a:rPr lang="en-US" sz="1600" b="1" dirty="0">
                <a:solidFill>
                  <a:srgbClr val="1F7A68"/>
                </a:solidFill>
                <a:latin typeface="DM Sans" pitchFamily="34" charset="0"/>
                <a:ea typeface="DM Sans" pitchFamily="34" charset="-122"/>
                <a:cs typeface="DM Sans" pitchFamily="34" charset="-120"/>
              </a:rPr>
              <a:t>cell: B2</a:t>
            </a:r>
            <a:endParaRPr lang="en-US" sz="1600" dirty="0"/>
          </a:p>
        </p:txBody>
      </p:sp>
      <p:pic>
        <p:nvPicPr>
          <p:cNvPr id="16" name="Image 0" descr="connector"/>
          <p:cNvPicPr>
            <a:picLocks noChangeAspect="1"/>
          </p:cNvPicPr>
          <p:nvPr/>
        </p:nvPicPr>
        <p:blipFill>
          <a:blip r:embed="rId3"/>
          <a:srcRect/>
          <a:stretch/>
        </p:blipFill>
        <p:spPr>
          <a:xfrm>
            <a:off x="3810000" y="3949700"/>
            <a:ext cx="812800" cy="101600"/>
          </a:xfrm>
          <a:prstGeom prst="rect">
            <a:avLst/>
          </a:prstGeom>
        </p:spPr>
      </p:pic>
      <p:pic>
        <p:nvPicPr>
          <p:cNvPr id="17" name="Image 1" descr="connector"/>
          <p:cNvPicPr>
            <a:picLocks noChangeAspect="1"/>
          </p:cNvPicPr>
          <p:nvPr/>
        </p:nvPicPr>
        <p:blipFill>
          <a:blip r:embed="rId3"/>
          <a:srcRect/>
          <a:stretch/>
        </p:blipFill>
        <p:spPr>
          <a:xfrm>
            <a:off x="7569200" y="3949700"/>
            <a:ext cx="812800" cy="101600"/>
          </a:xfrm>
          <a:prstGeom prst="rect">
            <a:avLst/>
          </a:prstGeom>
        </p:spPr>
      </p:pic>
      <p:sp>
        <p:nvSpPr>
          <p:cNvPr id="18" name="Text 14"/>
          <p:cNvSpPr/>
          <p:nvPr/>
        </p:nvSpPr>
        <p:spPr>
          <a:xfrm>
            <a:off x="812800" y="5080000"/>
            <a:ext cx="10883392"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F7A68"/>
                </a:solidFill>
                <a:latin typeface="Manrope" pitchFamily="34" charset="0"/>
                <a:ea typeface="Manrope" pitchFamily="34" charset="-122"/>
                <a:cs typeface="Manrope" pitchFamily="34" charset="-120"/>
              </a:rPr>
              <a:t>Stable handle · untouched source value · exact location</a:t>
            </a:r>
            <a:endParaRPr lang="en-US" sz="1800" dirty="0"/>
          </a:p>
        </p:txBody>
      </p:sp>
      <p:sp>
        <p:nvSpPr>
          <p:cNvPr id="19" name="Text 15"/>
          <p:cNvSpPr/>
          <p:nvPr/>
        </p:nvSpPr>
        <p:spPr>
          <a:xfrm>
            <a:off x="812800" y="54991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2889A"/>
                </a:solidFill>
                <a:latin typeface="DM Sans" pitchFamily="34" charset="0"/>
                <a:ea typeface="DM Sans" pitchFamily="34" charset="-122"/>
                <a:cs typeface="DM Sans" pitchFamily="34" charset="-120"/>
              </a:rPr>
              <a:t>Selected fields from the implemented ExcelToken contract.</a:t>
            </a:r>
            <a:endParaRPr lang="en-US" sz="1200" dirty="0"/>
          </a:p>
        </p:txBody>
      </p:sp>
      <p:sp>
        <p:nvSpPr>
          <p:cNvPr id="20" name="Text 16"/>
          <p:cNvSpPr/>
          <p:nvPr/>
        </p:nvSpPr>
        <p:spPr>
          <a:xfrm>
            <a:off x="812800" y="6238280"/>
            <a:ext cx="40828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2889A"/>
                </a:solidFill>
                <a:latin typeface="DM Sans" pitchFamily="34" charset="0"/>
                <a:ea typeface="DM Sans" pitchFamily="34" charset="-122"/>
                <a:cs typeface="DM Sans" pitchFamily="34" charset="-120"/>
              </a:rPr>
              <a:t>3.5 CarthAsians · Zero-Hallucination Audit Agent</a:t>
            </a:r>
            <a:endParaRPr lang="en-US" sz="1200" dirty="0"/>
          </a:p>
        </p:txBody>
      </p:sp>
      <p:sp>
        <p:nvSpPr>
          <p:cNvPr id="21" name="Text 17"/>
          <p:cNvSpPr/>
          <p:nvPr/>
        </p:nvSpPr>
        <p:spPr>
          <a:xfrm>
            <a:off x="11131649" y="6238280"/>
            <a:ext cx="247551"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2889A"/>
                </a:solidFill>
                <a:latin typeface="DM Sans" pitchFamily="34" charset="0"/>
                <a:ea typeface="DM Sans" pitchFamily="34" charset="-122"/>
                <a:cs typeface="DM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3C4FBA"/>
                </a:solidFill>
                <a:latin typeface="DM Sans" pitchFamily="34" charset="0"/>
                <a:ea typeface="DM Sans" pitchFamily="34" charset="-122"/>
                <a:cs typeface="DM Sans" pitchFamily="34" charset="-120"/>
              </a:rPr>
              <a:t>STEP 2 · MAPPING</a:t>
            </a:r>
            <a:endParaRPr lang="en-US" sz="1200" dirty="0"/>
          </a:p>
        </p:txBody>
      </p:sp>
      <p:sp>
        <p:nvSpPr>
          <p:cNvPr id="3" name="Text 1"/>
          <p:cNvSpPr>
            <a:spLocks noGrp="1"/>
          </p:cNvSpPr>
          <p:nvPr>
            <p:ph type="title"/>
          </p:nvPr>
        </p:nvSpPr>
        <p:spPr>
          <a:xfrm>
            <a:off x="812800" y="115312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kern="0" spc="-100" dirty="0">
                <a:solidFill>
                  <a:srgbClr val="202737"/>
                </a:solidFill>
                <a:latin typeface="Manrope" pitchFamily="34" charset="0"/>
                <a:ea typeface="Manrope" pitchFamily="34" charset="-122"/>
                <a:cs typeface="Manrope" pitchFamily="34" charset="-120"/>
              </a:rPr>
              <a:t>Map the meaning. Retrieve the amount.</a:t>
            </a:r>
            <a:endParaRPr lang="en-US" sz="3600" dirty="0"/>
          </a:p>
        </p:txBody>
      </p:sp>
      <p:sp>
        <p:nvSpPr>
          <p:cNvPr id="4" name="Text 2"/>
          <p:cNvSpPr/>
          <p:nvPr/>
        </p:nvSpPr>
        <p:spPr>
          <a:xfrm>
            <a:off x="812800" y="188208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368"/>
                </a:solidFill>
                <a:latin typeface="DM Sans" pitchFamily="34" charset="0"/>
                <a:ea typeface="DM Sans" pitchFamily="34" charset="-122"/>
                <a:cs typeface="DM Sans" pitchFamily="34" charset="-120"/>
              </a:rPr>
              <a:t>A section rule maps column B across matching asset rows.</a:t>
            </a:r>
            <a:endParaRPr lang="en-US" sz="1600" dirty="0"/>
          </a:p>
        </p:txBody>
      </p:sp>
      <p:sp>
        <p:nvSpPr>
          <p:cNvPr id="5" name="Shape 3"/>
          <p:cNvSpPr/>
          <p:nvPr/>
        </p:nvSpPr>
        <p:spPr>
          <a:xfrm>
            <a:off x="819150" y="2546350"/>
            <a:ext cx="2908300" cy="1066800"/>
          </a:xfrm>
          <a:prstGeom prst="roundRect">
            <a:avLst>
              <a:gd name="adj" fmla="val 8929"/>
            </a:avLst>
          </a:prstGeom>
          <a:solidFill>
            <a:srgbClr val="EDF0FC"/>
          </a:solidFill>
          <a:ln w="12700">
            <a:solidFill>
              <a:srgbClr val="3C4FBA"/>
            </a:solidFill>
            <a:prstDash val="solid"/>
          </a:ln>
        </p:spPr>
        <p:txBody>
          <a:bodyPr/>
          <a:lstStyle/>
          <a:p>
            <a:endParaRPr lang="en-US"/>
          </a:p>
        </p:txBody>
      </p:sp>
      <p:sp>
        <p:nvSpPr>
          <p:cNvPr id="6" name="Text 4"/>
          <p:cNvSpPr/>
          <p:nvPr/>
        </p:nvSpPr>
        <p:spPr>
          <a:xfrm>
            <a:off x="1054100" y="2796530"/>
            <a:ext cx="251155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368"/>
                </a:solidFill>
                <a:latin typeface="DM Sans" pitchFamily="34" charset="0"/>
                <a:ea typeface="DM Sans" pitchFamily="34" charset="-122"/>
                <a:cs typeface="DM Sans" pitchFamily="34" charset="-120"/>
              </a:rPr>
              <a:t>Section rule · 2025 asset rows</a:t>
            </a:r>
            <a:endParaRPr lang="en-US" sz="1300" dirty="0"/>
          </a:p>
        </p:txBody>
      </p:sp>
      <p:sp>
        <p:nvSpPr>
          <p:cNvPr id="7" name="Text 5"/>
          <p:cNvSpPr/>
          <p:nvPr/>
        </p:nvSpPr>
        <p:spPr>
          <a:xfrm>
            <a:off x="1054100" y="3078460"/>
            <a:ext cx="251155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C4FBA"/>
                </a:solidFill>
                <a:latin typeface="DM Sans" pitchFamily="34" charset="0"/>
                <a:ea typeface="DM Sans" pitchFamily="34" charset="-122"/>
                <a:cs typeface="DM Sans" pitchFamily="34" charset="-120"/>
              </a:rPr>
              <a:t>B → ahk_open</a:t>
            </a:r>
            <a:endParaRPr lang="en-US" sz="1600" dirty="0"/>
          </a:p>
        </p:txBody>
      </p:sp>
      <p:sp>
        <p:nvSpPr>
          <p:cNvPr id="8" name="Shape 6"/>
          <p:cNvSpPr/>
          <p:nvPr/>
        </p:nvSpPr>
        <p:spPr>
          <a:xfrm>
            <a:off x="819150" y="3943350"/>
            <a:ext cx="2908300" cy="1066800"/>
          </a:xfrm>
          <a:prstGeom prst="roundRect">
            <a:avLst>
              <a:gd name="adj" fmla="val 8929"/>
            </a:avLst>
          </a:prstGeom>
          <a:solidFill>
            <a:srgbClr val="F6F7FA"/>
          </a:solidFill>
          <a:ln w="12700">
            <a:solidFill>
              <a:srgbClr val="C8D1E9"/>
            </a:solidFill>
            <a:prstDash val="solid"/>
          </a:ln>
        </p:spPr>
        <p:txBody>
          <a:bodyPr/>
          <a:lstStyle/>
          <a:p>
            <a:endParaRPr lang="en-US"/>
          </a:p>
        </p:txBody>
      </p:sp>
      <p:sp>
        <p:nvSpPr>
          <p:cNvPr id="9" name="Text 7"/>
          <p:cNvSpPr/>
          <p:nvPr/>
        </p:nvSpPr>
        <p:spPr>
          <a:xfrm>
            <a:off x="1054100" y="4193530"/>
            <a:ext cx="251155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368"/>
                </a:solidFill>
                <a:latin typeface="DM Sans" pitchFamily="34" charset="0"/>
                <a:ea typeface="DM Sans" pitchFamily="34" charset="-122"/>
                <a:cs typeface="DM Sans" pitchFamily="34" charset="-120"/>
              </a:rPr>
              <a:t>Source evidence</a:t>
            </a:r>
            <a:endParaRPr lang="en-US" sz="1300" dirty="0"/>
          </a:p>
        </p:txBody>
      </p:sp>
      <p:sp>
        <p:nvSpPr>
          <p:cNvPr id="10" name="Text 8"/>
          <p:cNvSpPr/>
          <p:nvPr/>
        </p:nvSpPr>
        <p:spPr>
          <a:xfrm>
            <a:off x="1054100" y="4475460"/>
            <a:ext cx="251155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02737"/>
                </a:solidFill>
                <a:latin typeface="DM Sans" pitchFamily="34" charset="0"/>
                <a:ea typeface="DM Sans" pitchFamily="34" charset="-122"/>
                <a:cs typeface="DM Sans" pitchFamily="34" charset="-120"/>
              </a:rPr>
              <a:t>Assets!B2</a:t>
            </a:r>
            <a:endParaRPr lang="en-US" sz="1600" dirty="0"/>
          </a:p>
        </p:txBody>
      </p:sp>
      <p:sp>
        <p:nvSpPr>
          <p:cNvPr id="11" name="Shape 9"/>
          <p:cNvSpPr/>
          <p:nvPr/>
        </p:nvSpPr>
        <p:spPr>
          <a:xfrm>
            <a:off x="4502150" y="3149600"/>
            <a:ext cx="2908300" cy="1257300"/>
          </a:xfrm>
          <a:prstGeom prst="roundRect">
            <a:avLst>
              <a:gd name="adj" fmla="val 7576"/>
            </a:avLst>
          </a:prstGeom>
          <a:solidFill>
            <a:srgbClr val="E7F6F2"/>
          </a:solidFill>
          <a:ln w="12700">
            <a:solidFill>
              <a:srgbClr val="2E9C86"/>
            </a:solidFill>
            <a:prstDash val="solid"/>
          </a:ln>
        </p:spPr>
        <p:txBody>
          <a:bodyPr/>
          <a:lstStyle/>
          <a:p>
            <a:endParaRPr lang="en-US"/>
          </a:p>
        </p:txBody>
      </p:sp>
      <p:sp>
        <p:nvSpPr>
          <p:cNvPr id="12" name="Text 10"/>
          <p:cNvSpPr/>
          <p:nvPr/>
        </p:nvSpPr>
        <p:spPr>
          <a:xfrm>
            <a:off x="4737100" y="3362970"/>
            <a:ext cx="251155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368"/>
                </a:solidFill>
                <a:latin typeface="DM Sans" pitchFamily="34" charset="0"/>
                <a:ea typeface="DM Sans" pitchFamily="34" charset="-122"/>
                <a:cs typeface="DM Sans" pitchFamily="34" charset="-120"/>
              </a:rPr>
              <a:t>Deterministic code</a:t>
            </a:r>
            <a:endParaRPr lang="en-US" sz="1300" dirty="0"/>
          </a:p>
        </p:txBody>
      </p:sp>
      <p:sp>
        <p:nvSpPr>
          <p:cNvPr id="13" name="Text 11"/>
          <p:cNvSpPr/>
          <p:nvPr/>
        </p:nvSpPr>
        <p:spPr>
          <a:xfrm>
            <a:off x="4737100" y="3644900"/>
            <a:ext cx="251155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02737"/>
                </a:solidFill>
                <a:latin typeface="DM Sans" pitchFamily="34" charset="0"/>
                <a:ea typeface="DM Sans" pitchFamily="34" charset="-122"/>
                <a:cs typeface="DM Sans" pitchFamily="34" charset="-120"/>
              </a:rPr>
              <a:t>read 123.45 EUR</a:t>
            </a:r>
            <a:endParaRPr lang="en-US" sz="1300" dirty="0"/>
          </a:p>
        </p:txBody>
      </p:sp>
      <p:sp>
        <p:nvSpPr>
          <p:cNvPr id="14" name="Text 12"/>
          <p:cNvSpPr/>
          <p:nvPr/>
        </p:nvSpPr>
        <p:spPr>
          <a:xfrm>
            <a:off x="4737100" y="3926830"/>
            <a:ext cx="251155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7A68"/>
                </a:solidFill>
                <a:latin typeface="DM Sans" pitchFamily="34" charset="0"/>
                <a:ea typeface="DM Sans" pitchFamily="34" charset="-122"/>
                <a:cs typeface="DM Sans" pitchFamily="34" charset="-120"/>
              </a:rPr>
              <a:t>parse 12345 cents</a:t>
            </a:r>
            <a:endParaRPr lang="en-US" sz="1500" dirty="0"/>
          </a:p>
        </p:txBody>
      </p:sp>
      <p:sp>
        <p:nvSpPr>
          <p:cNvPr id="15" name="Shape 13"/>
          <p:cNvSpPr/>
          <p:nvPr/>
        </p:nvSpPr>
        <p:spPr>
          <a:xfrm>
            <a:off x="8185150" y="3149600"/>
            <a:ext cx="3187700" cy="1257300"/>
          </a:xfrm>
          <a:prstGeom prst="roundRect">
            <a:avLst>
              <a:gd name="adj" fmla="val 7576"/>
            </a:avLst>
          </a:prstGeom>
          <a:solidFill>
            <a:srgbClr val="E7F6F2"/>
          </a:solidFill>
          <a:ln w="12700">
            <a:solidFill>
              <a:srgbClr val="2E9C86"/>
            </a:solidFill>
            <a:prstDash val="solid"/>
          </a:ln>
        </p:spPr>
        <p:txBody>
          <a:bodyPr/>
          <a:lstStyle/>
          <a:p>
            <a:endParaRPr lang="en-US"/>
          </a:p>
        </p:txBody>
      </p:sp>
      <p:sp>
        <p:nvSpPr>
          <p:cNvPr id="16" name="Text 14"/>
          <p:cNvSpPr/>
          <p:nvPr/>
        </p:nvSpPr>
        <p:spPr>
          <a:xfrm>
            <a:off x="8420100" y="3309640"/>
            <a:ext cx="2799334"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368"/>
                </a:solidFill>
                <a:latin typeface="DM Sans" pitchFamily="34" charset="0"/>
                <a:ea typeface="DM Sans" pitchFamily="34" charset="-122"/>
                <a:cs typeface="DM Sans" pitchFamily="34" charset="-120"/>
              </a:rPr>
              <a:t>Asset 001 · ahk_open</a:t>
            </a:r>
            <a:endParaRPr lang="en-US" sz="1300" dirty="0"/>
          </a:p>
        </p:txBody>
      </p:sp>
      <p:sp>
        <p:nvSpPr>
          <p:cNvPr id="17" name="Text 15"/>
          <p:cNvSpPr/>
          <p:nvPr/>
        </p:nvSpPr>
        <p:spPr>
          <a:xfrm>
            <a:off x="8420100" y="3591570"/>
            <a:ext cx="2799334"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F7A68"/>
                </a:solidFill>
                <a:latin typeface="Manrope" pitchFamily="34" charset="0"/>
                <a:ea typeface="Manrope" pitchFamily="34" charset="-122"/>
                <a:cs typeface="Manrope" pitchFamily="34" charset="-120"/>
              </a:rPr>
              <a:t>12345 cents</a:t>
            </a:r>
            <a:endParaRPr lang="en-US" sz="2200" dirty="0"/>
          </a:p>
        </p:txBody>
      </p:sp>
      <p:sp>
        <p:nvSpPr>
          <p:cNvPr id="18" name="Text 16"/>
          <p:cNvSpPr/>
          <p:nvPr/>
        </p:nvSpPr>
        <p:spPr>
          <a:xfrm>
            <a:off x="8420100" y="4033490"/>
            <a:ext cx="27993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02737"/>
                </a:solidFill>
                <a:latin typeface="DM Sans" pitchFamily="34" charset="0"/>
                <a:ea typeface="DM Sans" pitchFamily="34" charset="-122"/>
                <a:cs typeface="DM Sans" pitchFamily="34" charset="-120"/>
              </a:rPr>
              <a:t>source: Assets!B2</a:t>
            </a:r>
            <a:endParaRPr lang="en-US" sz="1200" dirty="0"/>
          </a:p>
        </p:txBody>
      </p:sp>
      <p:pic>
        <p:nvPicPr>
          <p:cNvPr id="19" name="Image 0" descr="connector"/>
          <p:cNvPicPr>
            <a:picLocks noChangeAspect="1"/>
          </p:cNvPicPr>
          <p:nvPr/>
        </p:nvPicPr>
        <p:blipFill>
          <a:blip r:embed="rId3"/>
          <a:srcRect/>
          <a:stretch/>
        </p:blipFill>
        <p:spPr>
          <a:xfrm>
            <a:off x="3683000" y="3028950"/>
            <a:ext cx="2324100" cy="165100"/>
          </a:xfrm>
          <a:prstGeom prst="rect">
            <a:avLst/>
          </a:prstGeom>
        </p:spPr>
      </p:pic>
      <p:pic>
        <p:nvPicPr>
          <p:cNvPr id="20" name="Image 1" descr="connector"/>
          <p:cNvPicPr>
            <a:picLocks noChangeAspect="1"/>
          </p:cNvPicPr>
          <p:nvPr/>
        </p:nvPicPr>
        <p:blipFill>
          <a:blip r:embed="rId4"/>
          <a:srcRect/>
          <a:stretch/>
        </p:blipFill>
        <p:spPr>
          <a:xfrm>
            <a:off x="3683000" y="4362450"/>
            <a:ext cx="2324100" cy="165100"/>
          </a:xfrm>
          <a:prstGeom prst="rect">
            <a:avLst/>
          </a:prstGeom>
        </p:spPr>
      </p:pic>
      <p:pic>
        <p:nvPicPr>
          <p:cNvPr id="21" name="Image 2" descr="connector"/>
          <p:cNvPicPr>
            <a:picLocks noChangeAspect="1"/>
          </p:cNvPicPr>
          <p:nvPr/>
        </p:nvPicPr>
        <p:blipFill>
          <a:blip r:embed="rId5"/>
          <a:srcRect/>
          <a:stretch/>
        </p:blipFill>
        <p:spPr>
          <a:xfrm>
            <a:off x="7366000" y="3727450"/>
            <a:ext cx="863600" cy="101600"/>
          </a:xfrm>
          <a:prstGeom prst="rect">
            <a:avLst/>
          </a:prstGeom>
        </p:spPr>
      </p:pic>
      <p:sp>
        <p:nvSpPr>
          <p:cNvPr id="22" name="Text 17"/>
          <p:cNvSpPr/>
          <p:nvPr/>
        </p:nvSpPr>
        <p:spPr>
          <a:xfrm>
            <a:off x="812800" y="5232400"/>
            <a:ext cx="10883392"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F7A68"/>
                </a:solidFill>
                <a:latin typeface="Manrope" pitchFamily="34" charset="0"/>
                <a:ea typeface="Manrope" pitchFamily="34" charset="-122"/>
                <a:cs typeface="Manrope" pitchFamily="34" charset="-120"/>
              </a:rPr>
              <a:t>Preserve printed discrepancies. Abstain when evidence is missing.</a:t>
            </a:r>
            <a:endParaRPr lang="en-US" sz="1800" dirty="0"/>
          </a:p>
        </p:txBody>
      </p:sp>
      <p:sp>
        <p:nvSpPr>
          <p:cNvPr id="23" name="Text 18"/>
          <p:cNvSpPr/>
          <p:nvPr/>
        </p:nvSpPr>
        <p:spPr>
          <a:xfrm>
            <a:off x="812800" y="5613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2889A"/>
                </a:solidFill>
                <a:latin typeface="DM Sans" pitchFamily="34" charset="0"/>
                <a:ea typeface="DM Sans" pitchFamily="34" charset="-122"/>
                <a:cs typeface="DM Sans" pitchFamily="34" charset="-120"/>
              </a:rPr>
              <a:t>Selected fields from the implemented plan and ObservedValue contracts.</a:t>
            </a:r>
            <a:endParaRPr lang="en-US" sz="1200" dirty="0"/>
          </a:p>
        </p:txBody>
      </p:sp>
      <p:sp>
        <p:nvSpPr>
          <p:cNvPr id="24" name="Text 19"/>
          <p:cNvSpPr/>
          <p:nvPr/>
        </p:nvSpPr>
        <p:spPr>
          <a:xfrm>
            <a:off x="812800" y="6238280"/>
            <a:ext cx="40828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2889A"/>
                </a:solidFill>
                <a:latin typeface="DM Sans" pitchFamily="34" charset="0"/>
                <a:ea typeface="DM Sans" pitchFamily="34" charset="-122"/>
                <a:cs typeface="DM Sans" pitchFamily="34" charset="-120"/>
              </a:rPr>
              <a:t>3.5 CarthAsians · Zero-Hallucination Audit Agent</a:t>
            </a:r>
            <a:endParaRPr lang="en-US" sz="1200" dirty="0"/>
          </a:p>
        </p:txBody>
      </p:sp>
      <p:sp>
        <p:nvSpPr>
          <p:cNvPr id="25" name="Text 20"/>
          <p:cNvSpPr/>
          <p:nvPr/>
        </p:nvSpPr>
        <p:spPr>
          <a:xfrm>
            <a:off x="11131153" y="6238280"/>
            <a:ext cx="2480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2889A"/>
                </a:solidFill>
                <a:latin typeface="DM Sans" pitchFamily="34" charset="0"/>
                <a:ea typeface="DM Sans" pitchFamily="34" charset="-122"/>
                <a:cs typeface="DM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3C4FBA"/>
                </a:solidFill>
                <a:latin typeface="DM Sans" pitchFamily="34" charset="0"/>
                <a:ea typeface="DM Sans" pitchFamily="34" charset="-122"/>
                <a:cs typeface="DM Sans" pitchFamily="34" charset="-120"/>
              </a:rPr>
              <a:t>EVALUATION</a:t>
            </a:r>
            <a:endParaRPr lang="en-US" sz="1200" dirty="0"/>
          </a:p>
        </p:txBody>
      </p:sp>
      <p:sp>
        <p:nvSpPr>
          <p:cNvPr id="3" name="Text 1"/>
          <p:cNvSpPr>
            <a:spLocks noGrp="1"/>
          </p:cNvSpPr>
          <p:nvPr>
            <p:ph type="title"/>
          </p:nvPr>
        </p:nvSpPr>
        <p:spPr>
          <a:xfrm>
            <a:off x="812800" y="115312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kern="0" spc="-100" dirty="0">
                <a:solidFill>
                  <a:srgbClr val="202737"/>
                </a:solidFill>
                <a:latin typeface="Manrope" pitchFamily="34" charset="0"/>
                <a:ea typeface="Manrope" pitchFamily="34" charset="-122"/>
                <a:cs typeface="Manrope" pitchFamily="34" charset="-120"/>
              </a:rPr>
              <a:t>How we tested it</a:t>
            </a:r>
            <a:endParaRPr lang="en-US" sz="3600" dirty="0"/>
          </a:p>
        </p:txBody>
      </p:sp>
      <p:sp>
        <p:nvSpPr>
          <p:cNvPr id="4" name="Text 2"/>
          <p:cNvSpPr/>
          <p:nvPr/>
        </p:nvSpPr>
        <p:spPr>
          <a:xfrm>
            <a:off x="812800" y="2034480"/>
            <a:ext cx="10883392" cy="32003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4A5368"/>
                </a:solidFill>
                <a:latin typeface="DM Sans" pitchFamily="34" charset="0"/>
                <a:ea typeface="DM Sans" pitchFamily="34" charset="-122"/>
                <a:cs typeface="DM Sans" pitchFamily="34" charset="-120"/>
              </a:rPr>
              <a:t>We generated fake client documents, with answer keys, in layouts the agent has never seen.</a:t>
            </a:r>
            <a:endParaRPr lang="en-US" sz="1600" dirty="0"/>
          </a:p>
        </p:txBody>
      </p:sp>
      <p:sp>
        <p:nvSpPr>
          <p:cNvPr id="5" name="Shape 3"/>
          <p:cNvSpPr/>
          <p:nvPr/>
        </p:nvSpPr>
        <p:spPr>
          <a:xfrm>
            <a:off x="812800" y="2684711"/>
            <a:ext cx="3386634" cy="1767780"/>
          </a:xfrm>
          <a:prstGeom prst="roundRect">
            <a:avLst>
              <a:gd name="adj" fmla="val 5747"/>
            </a:avLst>
          </a:prstGeom>
          <a:solidFill>
            <a:srgbClr val="F6F7FA"/>
          </a:solidFill>
          <a:ln/>
        </p:spPr>
        <p:txBody>
          <a:bodyPr/>
          <a:lstStyle/>
          <a:p>
            <a:endParaRPr lang="en-US"/>
          </a:p>
        </p:txBody>
      </p:sp>
      <p:sp>
        <p:nvSpPr>
          <p:cNvPr id="6" name="Text 4"/>
          <p:cNvSpPr/>
          <p:nvPr/>
        </p:nvSpPr>
        <p:spPr>
          <a:xfrm>
            <a:off x="1117600" y="2989511"/>
            <a:ext cx="2860345" cy="584200"/>
          </a:xfrm>
          <a:prstGeom prst="rect">
            <a:avLst/>
          </a:prstGeom>
          <a:noFill/>
          <a:ln/>
        </p:spPr>
        <p:txBody>
          <a:bodyPr wrap="square" lIns="0" tIns="0" rIns="0" bIns="0" rtlCol="0" anchor="t">
            <a:normAutofit/>
          </a:bodyPr>
          <a:lstStyle/>
          <a:p>
            <a:pPr marL="0" indent="0" algn="l">
              <a:lnSpc>
                <a:spcPts val="4400"/>
              </a:lnSpc>
              <a:buNone/>
            </a:pPr>
            <a:r>
              <a:rPr lang="en-US" sz="4400" b="1" kern="0" spc="-150" dirty="0">
                <a:solidFill>
                  <a:srgbClr val="202737"/>
                </a:solidFill>
                <a:latin typeface="Manrope" pitchFamily="34" charset="0"/>
                <a:ea typeface="Manrope" pitchFamily="34" charset="-122"/>
                <a:cs typeface="Manrope" pitchFamily="34" charset="-120"/>
              </a:rPr>
              <a:t>144</a:t>
            </a:r>
            <a:endParaRPr lang="en-US" sz="4400" dirty="0"/>
          </a:p>
        </p:txBody>
      </p:sp>
      <p:sp>
        <p:nvSpPr>
          <p:cNvPr id="7" name="Text 5"/>
          <p:cNvSpPr/>
          <p:nvPr/>
        </p:nvSpPr>
        <p:spPr>
          <a:xfrm>
            <a:off x="1117600" y="3649911"/>
            <a:ext cx="2860345"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368"/>
                </a:solidFill>
                <a:latin typeface="DM Sans" pitchFamily="34" charset="0"/>
                <a:ea typeface="DM Sans" pitchFamily="34" charset="-122"/>
                <a:cs typeface="DM Sans" pitchFamily="34" charset="-120"/>
              </a:rPr>
              <a:t>synthetic documents, half held out</a:t>
            </a:r>
            <a:endParaRPr lang="en-US" sz="1400" dirty="0"/>
          </a:p>
        </p:txBody>
      </p:sp>
      <p:sp>
        <p:nvSpPr>
          <p:cNvPr id="8" name="Shape 6"/>
          <p:cNvSpPr/>
          <p:nvPr/>
        </p:nvSpPr>
        <p:spPr>
          <a:xfrm>
            <a:off x="4402634" y="2684711"/>
            <a:ext cx="3386683" cy="1767780"/>
          </a:xfrm>
          <a:prstGeom prst="roundRect">
            <a:avLst>
              <a:gd name="adj" fmla="val 5747"/>
            </a:avLst>
          </a:prstGeom>
          <a:solidFill>
            <a:srgbClr val="EDF0FC"/>
          </a:solidFill>
          <a:ln/>
        </p:spPr>
        <p:txBody>
          <a:bodyPr/>
          <a:lstStyle/>
          <a:p>
            <a:endParaRPr lang="en-US"/>
          </a:p>
        </p:txBody>
      </p:sp>
      <p:sp>
        <p:nvSpPr>
          <p:cNvPr id="9" name="Text 7"/>
          <p:cNvSpPr/>
          <p:nvPr/>
        </p:nvSpPr>
        <p:spPr>
          <a:xfrm>
            <a:off x="4707434" y="2989511"/>
            <a:ext cx="2860396" cy="584200"/>
          </a:xfrm>
          <a:prstGeom prst="rect">
            <a:avLst/>
          </a:prstGeom>
          <a:noFill/>
          <a:ln/>
        </p:spPr>
        <p:txBody>
          <a:bodyPr wrap="square" lIns="0" tIns="0" rIns="0" bIns="0" rtlCol="0" anchor="t">
            <a:normAutofit/>
          </a:bodyPr>
          <a:lstStyle/>
          <a:p>
            <a:pPr marL="0" indent="0" algn="l">
              <a:lnSpc>
                <a:spcPts val="4400"/>
              </a:lnSpc>
              <a:buNone/>
            </a:pPr>
            <a:r>
              <a:rPr lang="en-US" sz="4400" b="1" kern="0" spc="-150" dirty="0">
                <a:solidFill>
                  <a:srgbClr val="3C4FBA"/>
                </a:solidFill>
                <a:latin typeface="Manrope" pitchFamily="34" charset="0"/>
                <a:ea typeface="Manrope" pitchFamily="34" charset="-122"/>
                <a:cs typeface="Manrope" pitchFamily="34" charset="-120"/>
              </a:rPr>
              <a:t>~25,900</a:t>
            </a:r>
            <a:endParaRPr lang="en-US" sz="4400" dirty="0"/>
          </a:p>
        </p:txBody>
      </p:sp>
      <p:sp>
        <p:nvSpPr>
          <p:cNvPr id="10" name="Text 8"/>
          <p:cNvSpPr/>
          <p:nvPr/>
        </p:nvSpPr>
        <p:spPr>
          <a:xfrm>
            <a:off x="4707434" y="3649911"/>
            <a:ext cx="2860396"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368"/>
                </a:solidFill>
                <a:latin typeface="DM Sans" pitchFamily="34" charset="0"/>
                <a:ea typeface="DM Sans" pitchFamily="34" charset="-122"/>
                <a:cs typeface="DM Sans" pitchFamily="34" charset="-120"/>
              </a:rPr>
              <a:t>values right on the 72 samples (local score)</a:t>
            </a:r>
            <a:endParaRPr lang="en-US" sz="1400" dirty="0"/>
          </a:p>
        </p:txBody>
      </p:sp>
      <p:sp>
        <p:nvSpPr>
          <p:cNvPr id="14" name="Text 12"/>
          <p:cNvSpPr/>
          <p:nvPr/>
        </p:nvSpPr>
        <p:spPr>
          <a:xfrm>
            <a:off x="812800" y="6238280"/>
            <a:ext cx="40828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2889A"/>
                </a:solidFill>
                <a:latin typeface="DM Sans" pitchFamily="34" charset="0"/>
                <a:ea typeface="DM Sans" pitchFamily="34" charset="-122"/>
                <a:cs typeface="DM Sans" pitchFamily="34" charset="-120"/>
              </a:rPr>
              <a:t>3.5 CarthAsians · Zero-Hallucination Audit Agent</a:t>
            </a:r>
            <a:endParaRPr lang="en-US" sz="1200" dirty="0"/>
          </a:p>
        </p:txBody>
      </p:sp>
      <p:sp>
        <p:nvSpPr>
          <p:cNvPr id="15" name="Text 13"/>
          <p:cNvSpPr/>
          <p:nvPr/>
        </p:nvSpPr>
        <p:spPr>
          <a:xfrm>
            <a:off x="11128425" y="6238280"/>
            <a:ext cx="25077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2889A"/>
                </a:solidFill>
                <a:latin typeface="DM Sans" pitchFamily="34" charset="0"/>
                <a:ea typeface="DM Sans" pitchFamily="34" charset="-122"/>
                <a:cs typeface="DM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6566"/>
          </a:xfrm>
          <a:prstGeom prst="rect">
            <a:avLst/>
          </a:prstGeom>
          <a:noFill/>
          <a:ln/>
        </p:spPr>
        <p:txBody>
          <a:bodyPr wrap="square" lIns="0" tIns="0" rIns="0" bIns="0" rtlCol="0" anchor="t">
            <a:normAutofit/>
          </a:bodyPr>
          <a:lstStyle/>
          <a:p>
            <a:pPr marL="0" indent="0" algn="l">
              <a:lnSpc>
                <a:spcPts val="1622"/>
              </a:lnSpc>
              <a:buNone/>
            </a:pPr>
            <a:r>
              <a:rPr lang="en-US" sz="1159" b="1" kern="0" spc="200" dirty="0">
                <a:solidFill>
                  <a:srgbClr val="3C4FBA"/>
                </a:solidFill>
                <a:latin typeface="DM Sans" pitchFamily="34" charset="0"/>
                <a:ea typeface="DM Sans" pitchFamily="34" charset="-122"/>
                <a:cs typeface="DM Sans" pitchFamily="34" charset="-120"/>
              </a:rPr>
              <a:t>DEMO</a:t>
            </a:r>
            <a:endParaRPr lang="en-US" sz="1159" dirty="0"/>
          </a:p>
        </p:txBody>
      </p:sp>
      <p:sp>
        <p:nvSpPr>
          <p:cNvPr id="3" name="Text 1"/>
          <p:cNvSpPr>
            <a:spLocks noGrp="1"/>
          </p:cNvSpPr>
          <p:nvPr>
            <p:ph type="title"/>
          </p:nvPr>
        </p:nvSpPr>
        <p:spPr>
          <a:xfrm>
            <a:off x="812800" y="1140966"/>
            <a:ext cx="10883392" cy="521146"/>
          </a:xfrm>
          <a:prstGeom prst="rect">
            <a:avLst/>
          </a:prstGeom>
          <a:noFill/>
          <a:ln/>
        </p:spPr>
        <p:txBody>
          <a:bodyPr wrap="square" lIns="0" tIns="0" rIns="0" bIns="0" rtlCol="0" anchor="t">
            <a:normAutofit/>
          </a:bodyPr>
          <a:lstStyle/>
          <a:p>
            <a:pPr marL="0" indent="0" algn="l">
              <a:lnSpc>
                <a:spcPts val="3920"/>
              </a:lnSpc>
              <a:buNone/>
            </a:pPr>
            <a:r>
              <a:rPr lang="en-US" sz="3409" b="1" i="0" kern="0" spc="-100" dirty="0">
                <a:solidFill>
                  <a:srgbClr val="202737"/>
                </a:solidFill>
                <a:latin typeface="Manrope" pitchFamily="34" charset="0"/>
                <a:ea typeface="Manrope" pitchFamily="34" charset="-122"/>
                <a:cs typeface="Manrope" pitchFamily="34" charset="-120"/>
              </a:rPr>
              <a:t>See it run</a:t>
            </a:r>
            <a:endParaRPr lang="en-US" sz="3409" dirty="0"/>
          </a:p>
        </p:txBody>
      </p:sp>
      <p:sp>
        <p:nvSpPr>
          <p:cNvPr id="5" name="Shape 2"/>
          <p:cNvSpPr/>
          <p:nvPr/>
        </p:nvSpPr>
        <p:spPr>
          <a:xfrm>
            <a:off x="2066925" y="1893887"/>
            <a:ext cx="8058150" cy="3944937"/>
          </a:xfrm>
          <a:prstGeom prst="roundRect">
            <a:avLst>
              <a:gd name="adj" fmla="val 1851"/>
            </a:avLst>
          </a:prstGeom>
          <a:noFill/>
          <a:ln w="6350">
            <a:solidFill>
              <a:srgbClr val="E7E9EF"/>
            </a:solidFill>
            <a:prstDash val="solid"/>
          </a:ln>
        </p:spPr>
        <p:txBody>
          <a:bodyPr/>
          <a:lstStyle/>
          <a:p>
            <a:endParaRPr lang="en-US"/>
          </a:p>
        </p:txBody>
      </p:sp>
      <p:sp>
        <p:nvSpPr>
          <p:cNvPr id="6" name="Text 3"/>
          <p:cNvSpPr/>
          <p:nvPr/>
        </p:nvSpPr>
        <p:spPr>
          <a:xfrm>
            <a:off x="812800" y="6238280"/>
            <a:ext cx="40828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2889A"/>
                </a:solidFill>
                <a:latin typeface="DM Sans" pitchFamily="34" charset="0"/>
                <a:ea typeface="DM Sans" pitchFamily="34" charset="-122"/>
                <a:cs typeface="DM Sans" pitchFamily="34" charset="-120"/>
              </a:rPr>
              <a:t>3.5 CarthAsians · Zero-Hallucination Audit Agent</a:t>
            </a:r>
            <a:endParaRPr lang="en-US" sz="1200" dirty="0"/>
          </a:p>
        </p:txBody>
      </p:sp>
      <p:sp>
        <p:nvSpPr>
          <p:cNvPr id="7" name="Text 4"/>
          <p:cNvSpPr/>
          <p:nvPr/>
        </p:nvSpPr>
        <p:spPr>
          <a:xfrm>
            <a:off x="11144895" y="6238280"/>
            <a:ext cx="23430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2889A"/>
                </a:solidFill>
                <a:latin typeface="DM Sans" pitchFamily="34" charset="0"/>
                <a:ea typeface="DM Sans" pitchFamily="34" charset="-122"/>
                <a:cs typeface="DM Sans" pitchFamily="34" charset="-120"/>
              </a:rPr>
              <a:t>07</a:t>
            </a:r>
            <a:endParaRPr lang="en-US" sz="1200" dirty="0"/>
          </a:p>
        </p:txBody>
      </p:sp>
      <p:pic>
        <p:nvPicPr>
          <p:cNvPr id="8" name="Screen Recording 2026-10-18 at 17.10.33">
            <a:hlinkClick r:id="" action="ppaction://media"/>
            <a:extLst>
              <a:ext uri="{FF2B5EF4-FFF2-40B4-BE49-F238E27FC236}">
                <a16:creationId xmlns:a16="http://schemas.microsoft.com/office/drawing/2014/main" id="{BE92C529-E132-F4EB-CF4D-86458D329594}"/>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938" y="4763"/>
            <a:ext cx="12192000" cy="627856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870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2238077"/>
            <a:ext cx="381965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3C4FBA"/>
                </a:solidFill>
                <a:latin typeface="DM Sans" pitchFamily="34" charset="0"/>
                <a:ea typeface="DM Sans" pitchFamily="34" charset="-122"/>
                <a:cs typeface="DM Sans" pitchFamily="34" charset="-120"/>
              </a:rPr>
              <a:t>TUM.AI × CARTHAGENTS</a:t>
            </a:r>
            <a:endParaRPr lang="en-US" sz="1200" dirty="0"/>
          </a:p>
        </p:txBody>
      </p:sp>
      <p:sp>
        <p:nvSpPr>
          <p:cNvPr id="3" name="Text 1"/>
          <p:cNvSpPr>
            <a:spLocks noGrp="1"/>
          </p:cNvSpPr>
          <p:nvPr>
            <p:ph type="title"/>
          </p:nvPr>
        </p:nvSpPr>
        <p:spPr>
          <a:xfrm>
            <a:off x="812800" y="2679998"/>
            <a:ext cx="3819652" cy="787400"/>
          </a:xfrm>
          <a:prstGeom prst="rect">
            <a:avLst/>
          </a:prstGeom>
          <a:noFill/>
          <a:ln/>
        </p:spPr>
        <p:txBody>
          <a:bodyPr wrap="square" lIns="0" tIns="0" rIns="0" bIns="0" rtlCol="0" anchor="t">
            <a:normAutofit/>
          </a:bodyPr>
          <a:lstStyle/>
          <a:p>
            <a:pPr marL="0" indent="0" algn="l">
              <a:lnSpc>
                <a:spcPts val="6000"/>
              </a:lnSpc>
              <a:buNone/>
            </a:pPr>
            <a:r>
              <a:rPr lang="en-US" sz="6000" b="1" i="0" kern="0" spc="-250" dirty="0">
                <a:solidFill>
                  <a:srgbClr val="202737"/>
                </a:solidFill>
                <a:latin typeface="Manrope" pitchFamily="34" charset="0"/>
                <a:ea typeface="Manrope" pitchFamily="34" charset="-122"/>
                <a:cs typeface="Manrope" pitchFamily="34" charset="-120"/>
              </a:rPr>
              <a:t>Thank you</a:t>
            </a:r>
            <a:endParaRPr lang="en-US" sz="6000" dirty="0"/>
          </a:p>
        </p:txBody>
      </p:sp>
      <p:sp>
        <p:nvSpPr>
          <p:cNvPr id="4" name="Text 2"/>
          <p:cNvSpPr/>
          <p:nvPr/>
        </p:nvSpPr>
        <p:spPr>
          <a:xfrm>
            <a:off x="812800" y="3670598"/>
            <a:ext cx="1314549" cy="452090"/>
          </a:xfrm>
          <a:prstGeom prst="rect">
            <a:avLst/>
          </a:prstGeom>
          <a:noFill/>
          <a:ln/>
        </p:spPr>
        <p:txBody>
          <a:bodyPr wrap="square" lIns="0" tIns="0" rIns="0" bIns="0" rtlCol="0" anchor="t">
            <a:normAutofit/>
          </a:bodyPr>
          <a:lstStyle/>
          <a:p>
            <a:pPr marL="0" indent="0" algn="l">
              <a:lnSpc>
                <a:spcPts val="3360"/>
              </a:lnSpc>
              <a:buNone/>
            </a:pPr>
            <a:r>
              <a:rPr lang="en-US" sz="2400" b="1" kern="0" spc="-100" dirty="0">
                <a:solidFill>
                  <a:srgbClr val="202737"/>
                </a:solidFill>
                <a:latin typeface="Manrope" pitchFamily="34" charset="0"/>
                <a:ea typeface="Manrope" pitchFamily="34" charset="-122"/>
                <a:cs typeface="Manrope" pitchFamily="34" charset="-120"/>
              </a:rPr>
              <a:t>3.5 Carth</a:t>
            </a:r>
            <a:endParaRPr lang="en-US" sz="2400" dirty="0"/>
          </a:p>
        </p:txBody>
      </p:sp>
      <p:sp>
        <p:nvSpPr>
          <p:cNvPr id="5" name="Text 3"/>
          <p:cNvSpPr/>
          <p:nvPr/>
        </p:nvSpPr>
        <p:spPr>
          <a:xfrm>
            <a:off x="2076549" y="3680123"/>
            <a:ext cx="1049060" cy="452090"/>
          </a:xfrm>
          <a:prstGeom prst="rect">
            <a:avLst/>
          </a:prstGeom>
          <a:noFill/>
          <a:ln/>
        </p:spPr>
        <p:txBody>
          <a:bodyPr wrap="square" lIns="0" tIns="0" rIns="0" bIns="0" rtlCol="0" anchor="t">
            <a:normAutofit/>
          </a:bodyPr>
          <a:lstStyle/>
          <a:p>
            <a:pPr marL="0" indent="0" algn="l">
              <a:lnSpc>
                <a:spcPts val="3360"/>
              </a:lnSpc>
              <a:buNone/>
            </a:pPr>
            <a:r>
              <a:rPr lang="en-US" sz="2400" i="1" kern="0" spc="-50" dirty="0">
                <a:solidFill>
                  <a:srgbClr val="202737"/>
                </a:solidFill>
                <a:latin typeface="Georgia" pitchFamily="18" charset="0"/>
                <a:ea typeface="Georgia" pitchFamily="18" charset="-122"/>
                <a:cs typeface="Georgia" pitchFamily="18" charset="-120"/>
              </a:rPr>
              <a:t>Asians</a:t>
            </a:r>
            <a:endParaRPr lang="en-US" sz="2400" dirty="0"/>
          </a:p>
        </p:txBody>
      </p:sp>
      <p:sp>
        <p:nvSpPr>
          <p:cNvPr id="6" name="Text 4"/>
          <p:cNvSpPr/>
          <p:nvPr/>
        </p:nvSpPr>
        <p:spPr>
          <a:xfrm>
            <a:off x="812800" y="4335413"/>
            <a:ext cx="381965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368"/>
                </a:solidFill>
                <a:latin typeface="DM Sans" pitchFamily="34" charset="0"/>
                <a:ea typeface="DM Sans" pitchFamily="34" charset="-122"/>
                <a:cs typeface="DM Sans" pitchFamily="34" charset="-120"/>
              </a:rPr>
              <a:t>Questions welcome.</a:t>
            </a:r>
            <a:endParaRPr lang="en-US" sz="1600" dirty="0"/>
          </a:p>
        </p:txBody>
      </p:sp>
      <p:pic>
        <p:nvPicPr>
          <p:cNvPr id="7" name="Image 0" descr="The 3.5 CarthAsians team at their desks during the hackathon"/>
          <p:cNvPicPr>
            <a:picLocks noChangeAspect="1"/>
          </p:cNvPicPr>
          <p:nvPr/>
        </p:nvPicPr>
        <p:blipFill>
          <a:blip r:embed="rId3"/>
          <a:srcRect/>
          <a:stretch/>
        </p:blipFill>
        <p:spPr>
          <a:xfrm>
            <a:off x="5029200" y="1047750"/>
            <a:ext cx="6350000" cy="4762500"/>
          </a:xfrm>
          <a:prstGeom prst="roundRect">
            <a:avLst>
              <a:gd name="adj" fmla="val 2667"/>
            </a:avLst>
          </a:prstGeom>
        </p:spPr>
      </p:pic>
    </p:spTree>
  </p:cSld>
  <p:clrMapOvr>
    <a:masterClrMapping/>
  </p:clrMapOvr>
</p:sld>
</file>

<file path=ppt/theme/theme1.xml><?xml version="1.0" encoding="utf-8"?>
<a:theme xmlns:a="http://schemas.openxmlformats.org/drawingml/2006/main" name="CarthAgents Pitch">
  <a:themeElements>
    <a:clrScheme name="CarthAgents Pitch">
      <a:dk1>
        <a:srgbClr val="202737"/>
      </a:dk1>
      <a:lt1>
        <a:srgbClr val="FFFFFF"/>
      </a:lt1>
      <a:dk2>
        <a:srgbClr val="585D69"/>
      </a:dk2>
      <a:lt2>
        <a:srgbClr val="E9E9EB"/>
      </a:lt2>
      <a:accent1>
        <a:srgbClr val="3C4FBA"/>
      </a:accent1>
      <a:accent2>
        <a:srgbClr val="1F7A68"/>
      </a:accent2>
      <a:accent3>
        <a:srgbClr val="4A5368"/>
      </a:accent3>
      <a:accent4>
        <a:srgbClr val="82889A"/>
      </a:accent4>
      <a:accent5>
        <a:srgbClr val="9AA0A6"/>
      </a:accent5>
      <a:accent6>
        <a:srgbClr val="797D87"/>
      </a:accent6>
      <a:hlink>
        <a:srgbClr val="0563C1"/>
      </a:hlink>
      <a:folHlink>
        <a:srgbClr val="954F72"/>
      </a:folHlink>
    </a:clrScheme>
    <a:fontScheme name="CarthAgents Pitch">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1049</Words>
  <Application>Microsoft Macintosh PowerPoint</Application>
  <PresentationFormat>Widescreen</PresentationFormat>
  <Paragraphs>110</Paragraphs>
  <Slides>8</Slides>
  <Notes>8</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DM Sans</vt:lpstr>
      <vt:lpstr>Georgia</vt:lpstr>
      <vt:lpstr>Manrope</vt:lpstr>
      <vt:lpstr>CarthAgents Pitch</vt:lpstr>
      <vt:lpstr>Zero-Hallucination Audit Agent</vt:lpstr>
      <vt:lpstr>Auditors copy every number by hand</vt:lpstr>
      <vt:lpstr>From unfamiliar reports to traceable values</vt:lpstr>
      <vt:lpstr>Capture evidence before assigning meaning</vt:lpstr>
      <vt:lpstr>Map the meaning. Retrieve the amount.</vt:lpstr>
      <vt:lpstr>How we tested it</vt:lpstr>
      <vt:lpstr>See it run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CarthAgents Pitch</dc:title>
  <dc:subject/>
  <dc:creator/>
  <cp:lastModifiedBy>Vinayak Joshi</cp:lastModifiedBy>
  <cp:revision>3</cp:revision>
  <dcterms:created xsi:type="dcterms:W3CDTF">2026-10-18T15:17:22Z</dcterms:created>
  <dcterms:modified xsi:type="dcterms:W3CDTF">2026-10-18T15:18:54Z</dcterms:modified>
</cp:coreProperties>
</file>